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3.xml" ContentType="application/vnd.openxmlformats-officedocument.drawingml.chart+xml"/>
  <Override PartName="/ppt/notesSlides/notesSlide10.xml" ContentType="application/vnd.openxmlformats-officedocument.presentationml.notesSlide+xml"/>
  <Override PartName="/ppt/charts/chart4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rts/chart5.xml" ContentType="application/vnd.openxmlformats-officedocument.drawingml.chart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rts/chart6.xml" ContentType="application/vnd.openxmlformats-officedocument.drawingml.chart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84" r:id="rId6"/>
    <p:sldId id="285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71" r:id="rId17"/>
    <p:sldId id="269" r:id="rId18"/>
    <p:sldId id="270" r:id="rId19"/>
    <p:sldId id="272" r:id="rId20"/>
    <p:sldId id="273" r:id="rId21"/>
    <p:sldId id="274" r:id="rId22"/>
    <p:sldId id="275" r:id="rId23"/>
    <p:sldId id="279" r:id="rId24"/>
    <p:sldId id="283" r:id="rId25"/>
    <p:sldId id="280" r:id="rId26"/>
    <p:sldId id="281" r:id="rId27"/>
    <p:sldId id="282" r:id="rId28"/>
    <p:sldId id="276" r:id="rId29"/>
    <p:sldId id="277" r:id="rId30"/>
    <p:sldId id="278" r:id="rId3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1FE40BF-4A04-3C88-9335-0B5C50D9681B}" v="2" dt="2026-06-08T01:37:18.998"/>
    <p1510:client id="{8D33C638-106E-C5F4-61AF-B773A9D1B7C8}" v="12" dt="2026-06-08T01:48:54.96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1" d="100"/>
          <a:sy n="141" d="100"/>
        </p:scale>
        <p:origin x="13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FFFFFF"/>
                </a:solidFill>
                <a:latin typeface="Arial"/>
              </a:defRPr>
            </a:pPr>
            <a:r>
              <a:rPr lang="pt-BR" sz="1100" b="0" i="0" u="none" strike="noStrike" dirty="0">
                <a:solidFill>
                  <a:srgbClr val="FFFFFF"/>
                </a:solidFill>
                <a:latin typeface="Arial"/>
              </a:rPr>
              <a:t>Emissões Totais CO2(t) — 1970–2019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Emissões Totais (Gt CO₂)</c:v>
                </c:pt>
              </c:strCache>
            </c:strRef>
          </c:tx>
          <c:spPr>
            <a:ln w="38100" cap="flat">
              <a:solidFill>
                <a:srgbClr val="D4AC0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4AC0D"/>
              </a:solidFill>
              <a:ln w="9525" cap="flat">
                <a:solidFill>
                  <a:srgbClr val="D4AC0D"/>
                </a:solidFill>
                <a:prstDash val="solid"/>
                <a:round/>
              </a:ln>
              <a:effectLst/>
            </c:spPr>
          </c:marker>
          <c:cat>
            <c:strRef>
              <c:f>Sheet1!$A$2:$A$12</c:f>
              <c:strCache>
                <c:ptCount val="11"/>
                <c:pt idx="0">
                  <c:v>1970</c:v>
                </c:pt>
                <c:pt idx="1">
                  <c:v>1975</c:v>
                </c:pt>
                <c:pt idx="2">
                  <c:v>1980</c:v>
                </c:pt>
                <c:pt idx="3">
                  <c:v>1985</c:v>
                </c:pt>
                <c:pt idx="4">
                  <c:v>1990</c:v>
                </c:pt>
                <c:pt idx="5">
                  <c:v>1995</c:v>
                </c:pt>
                <c:pt idx="6">
                  <c:v>2000</c:v>
                </c:pt>
                <c:pt idx="7">
                  <c:v>2005</c:v>
                </c:pt>
                <c:pt idx="8">
                  <c:v>2010</c:v>
                </c:pt>
                <c:pt idx="9">
                  <c:v>2015</c:v>
                </c:pt>
                <c:pt idx="10">
                  <c:v>2019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0.45</c:v>
                </c:pt>
                <c:pt idx="1">
                  <c:v>0.52</c:v>
                </c:pt>
                <c:pt idx="2">
                  <c:v>0.78</c:v>
                </c:pt>
                <c:pt idx="3">
                  <c:v>0.8</c:v>
                </c:pt>
                <c:pt idx="4">
                  <c:v>1.01</c:v>
                </c:pt>
                <c:pt idx="5">
                  <c:v>1.38</c:v>
                </c:pt>
                <c:pt idx="6">
                  <c:v>1.41</c:v>
                </c:pt>
                <c:pt idx="7">
                  <c:v>1.31</c:v>
                </c:pt>
                <c:pt idx="8">
                  <c:v>1.18</c:v>
                </c:pt>
                <c:pt idx="9">
                  <c:v>1.25</c:v>
                </c:pt>
                <c:pt idx="10">
                  <c:v>1.31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7AB5-4DD2-9C32-FE50FC6CE67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AAAA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D6A4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AAAA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A3A2A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FFFFFF"/>
                </a:solidFill>
                <a:latin typeface="Arial"/>
              </a:defRPr>
            </a:pPr>
            <a:r>
              <a:rPr lang="pt-BR" sz="1100" b="0" i="0" u="none" strike="noStrike">
                <a:solidFill>
                  <a:srgbClr val="FFFFFF"/>
                </a:solidFill>
                <a:latin typeface="Arial"/>
              </a:rPr>
              <a:t>Por Setor (Mt CO₂ médio)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Mt CO₂</c:v>
                </c:pt>
              </c:strCache>
            </c:strRef>
          </c:tx>
          <c:spPr>
            <a:solidFill>
              <a:srgbClr val="52B788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9621-4588-82B8-C55332D92AD5}"/>
              </c:ext>
            </c:extLst>
          </c:dPt>
          <c:dPt>
            <c:idx val="1"/>
            <c:invertIfNegative val="0"/>
            <c:bubble3D val="0"/>
            <c:spPr>
              <a:solidFill>
                <a:srgbClr val="40916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9621-4588-82B8-C55332D92AD5}"/>
              </c:ext>
            </c:extLst>
          </c:dPt>
          <c:dPt>
            <c:idx val="2"/>
            <c:invertIfNegative val="0"/>
            <c:bubble3D val="0"/>
            <c:spPr>
              <a:solidFill>
                <a:srgbClr val="D4AC0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9621-4588-82B8-C55332D92AD5}"/>
              </c:ext>
            </c:extLst>
          </c:dPt>
          <c:dPt>
            <c:idx val="3"/>
            <c:invertIfNegative val="0"/>
            <c:bubble3D val="0"/>
            <c:spPr>
              <a:solidFill>
                <a:srgbClr val="2D6A4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9621-4588-82B8-C55332D92AD5}"/>
              </c:ext>
            </c:extLst>
          </c:dPt>
          <c:dPt>
            <c:idx val="4"/>
            <c:invertIfNegative val="0"/>
            <c:bubble3D val="0"/>
            <c:spPr>
              <a:solidFill>
                <a:srgbClr val="95B8A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9621-4588-82B8-C55332D92AD5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Mud. Uso Terra</c:v>
                </c:pt>
                <c:pt idx="1">
                  <c:v>Agropecuária</c:v>
                </c:pt>
                <c:pt idx="2">
                  <c:v>Energia</c:v>
                </c:pt>
                <c:pt idx="3">
                  <c:v>Proc. Ind.</c:v>
                </c:pt>
                <c:pt idx="4">
                  <c:v>Resíduos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680</c:v>
                </c:pt>
                <c:pt idx="1">
                  <c:v>420</c:v>
                </c:pt>
                <c:pt idx="2">
                  <c:v>160</c:v>
                </c:pt>
                <c:pt idx="3">
                  <c:v>95</c:v>
                </c:pt>
                <c:pt idx="4">
                  <c:v>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9621-4588-82B8-C55332D92AD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DDDDD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2D6A4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AAAA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A3A2A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FFFFFF"/>
                </a:solidFill>
                <a:latin typeface="Arial"/>
              </a:defRPr>
            </a:pPr>
            <a:r>
              <a:rPr lang="pt-BR" sz="1000" b="0" i="0" u="none" strike="noStrike">
                <a:solidFill>
                  <a:srgbClr val="FFFFFF"/>
                </a:solidFill>
                <a:latin typeface="Arial"/>
              </a:rPr>
              <a:t>Importância SHAP Média — Random Forest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SHAP Médio</c:v>
                </c:pt>
              </c:strCache>
            </c:strRef>
          </c:tx>
          <c:spPr>
            <a:solidFill>
              <a:srgbClr val="52B788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5291-4EB1-8197-85669E68B0C2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5291-4EB1-8197-85669E68B0C2}"/>
              </c:ext>
            </c:extLst>
          </c:dPt>
          <c:dPt>
            <c:idx val="2"/>
            <c:invertIfNegative val="0"/>
            <c:bubble3D val="0"/>
            <c:spPr>
              <a:solidFill>
                <a:srgbClr val="D4AC0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5291-4EB1-8197-85669E68B0C2}"/>
              </c:ext>
            </c:extLst>
          </c:dPt>
          <c:dPt>
            <c:idx val="3"/>
            <c:invertIfNegative val="0"/>
            <c:bubble3D val="0"/>
            <c:spPr>
              <a:solidFill>
                <a:srgbClr val="40916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5291-4EB1-8197-85669E68B0C2}"/>
              </c:ext>
            </c:extLst>
          </c:dPt>
          <c:dPt>
            <c:idx val="4"/>
            <c:invertIfNegative val="0"/>
            <c:bubble3D val="0"/>
            <c:spPr>
              <a:solidFill>
                <a:srgbClr val="2D6A4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5291-4EB1-8197-85669E68B0C2}"/>
              </c:ext>
            </c:extLst>
          </c:dPt>
          <c:dPt>
            <c:idx val="5"/>
            <c:invertIfNegative val="0"/>
            <c:bubble3D val="0"/>
            <c:spPr>
              <a:solidFill>
                <a:srgbClr val="95B8A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5291-4EB1-8197-85669E68B0C2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Mud. Uso Terra</c:v>
                </c:pt>
                <c:pt idx="1">
                  <c:v>Ano</c:v>
                </c:pt>
                <c:pt idx="2">
                  <c:v>Energia</c:v>
                </c:pt>
                <c:pt idx="3">
                  <c:v>Agropecuária</c:v>
                </c:pt>
                <c:pt idx="4">
                  <c:v>Proc. Ind.</c:v>
                </c:pt>
                <c:pt idx="5">
                  <c:v>Resíduos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7.6999999999999999E-2</c:v>
                </c:pt>
                <c:pt idx="1">
                  <c:v>4.9000000000000002E-2</c:v>
                </c:pt>
                <c:pt idx="2">
                  <c:v>1.7999999999999999E-2</c:v>
                </c:pt>
                <c:pt idx="3">
                  <c:v>1.2E-2</c:v>
                </c:pt>
                <c:pt idx="4">
                  <c:v>8.0000000000000002E-3</c:v>
                </c:pt>
                <c:pt idx="5">
                  <c:v>4.0000000000000001E-3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5291-4EB1-8197-85669E68B0C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DDDDD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2D6A4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AAAA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A3A2A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2D3436"/>
                </a:solidFill>
                <a:latin typeface="Arial"/>
              </a:defRPr>
            </a:pPr>
            <a:r>
              <a:rPr lang="pt-BR" sz="1100" b="0" i="0" u="none" strike="noStrike">
                <a:solidFill>
                  <a:srgbClr val="2D3436"/>
                </a:solidFill>
                <a:latin typeface="Arial"/>
              </a:rPr>
              <a:t>Divisão Treino / Teste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Split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52B7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046E-4676-B746-2D77023D0DF0}"/>
              </c:ext>
            </c:extLst>
          </c:dPt>
          <c:dPt>
            <c:idx val="1"/>
            <c:bubble3D val="0"/>
            <c:spPr>
              <a:solidFill>
                <a:srgbClr val="D4AC0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046E-4676-B746-2D77023D0DF0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pt-B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046E-4676-B746-2D77023D0DF0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pt-B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046E-4676-B746-2D77023D0DF0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pt-BR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Treino (80%)</c:v>
                </c:pt>
                <c:pt idx="1">
                  <c:v>Teste (20%)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80</c:v>
                </c:pt>
                <c:pt idx="1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046E-4676-B746-2D77023D0D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2D3436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FFFFFF"/>
                </a:solidFill>
                <a:latin typeface="Arial"/>
              </a:defRPr>
            </a:pPr>
            <a:r>
              <a:rPr lang="pt-BR" sz="1000" b="0" i="0" u="none" strike="noStrike">
                <a:solidFill>
                  <a:srgbClr val="FFFFFF"/>
                </a:solidFill>
                <a:latin typeface="Arial"/>
              </a:rPr>
              <a:t>Ranking por R²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R²</c:v>
                </c:pt>
              </c:strCache>
            </c:strRef>
          </c:tx>
          <c:spPr>
            <a:solidFill>
              <a:srgbClr val="52B788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131F-46F9-A792-9F1ACED04D5D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131F-46F9-A792-9F1ACED04D5D}"/>
              </c:ext>
            </c:extLst>
          </c:dPt>
          <c:dPt>
            <c:idx val="2"/>
            <c:invertIfNegative val="0"/>
            <c:bubble3D val="0"/>
            <c:spPr>
              <a:solidFill>
                <a:srgbClr val="40916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131F-46F9-A792-9F1ACED04D5D}"/>
              </c:ext>
            </c:extLst>
          </c:dPt>
          <c:dPt>
            <c:idx val="3"/>
            <c:invertIfNegative val="0"/>
            <c:bubble3D val="0"/>
            <c:spPr>
              <a:solidFill>
                <a:srgbClr val="40916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131F-46F9-A792-9F1ACED04D5D}"/>
              </c:ext>
            </c:extLst>
          </c:dPt>
          <c:dPt>
            <c:idx val="4"/>
            <c:invertIfNegative val="0"/>
            <c:bubble3D val="0"/>
            <c:spPr>
              <a:solidFill>
                <a:srgbClr val="D4AC0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131F-46F9-A792-9F1ACED04D5D}"/>
              </c:ext>
            </c:extLst>
          </c:dPt>
          <c:dPt>
            <c:idx val="5"/>
            <c:invertIfNegative val="0"/>
            <c:bubble3D val="0"/>
            <c:spPr>
              <a:solidFill>
                <a:srgbClr val="D4AC0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131F-46F9-A792-9F1ACED04D5D}"/>
              </c:ext>
            </c:extLst>
          </c:dPt>
          <c:dPt>
            <c:idx val="6"/>
            <c:invertIfNegative val="0"/>
            <c:bubble3D val="0"/>
            <c:spPr>
              <a:solidFill>
                <a:srgbClr val="95B8A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131F-46F9-A792-9F1ACED04D5D}"/>
              </c:ext>
            </c:extLst>
          </c:dPt>
          <c:dPt>
            <c:idx val="7"/>
            <c:invertIfNegative val="0"/>
            <c:bubble3D val="0"/>
            <c:spPr>
              <a:solidFill>
                <a:srgbClr val="95B8A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131F-46F9-A792-9F1ACED04D5D}"/>
              </c:ext>
            </c:extLst>
          </c:dPt>
          <c:dPt>
            <c:idx val="8"/>
            <c:invertIfNegative val="0"/>
            <c:bubble3D val="0"/>
            <c:spPr>
              <a:solidFill>
                <a:srgbClr val="CC444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131F-46F9-A792-9F1ACED04D5D}"/>
              </c:ext>
            </c:extLst>
          </c:dPt>
          <c:dPt>
            <c:idx val="9"/>
            <c:invertIfNegative val="0"/>
            <c:bubble3D val="0"/>
            <c:spPr>
              <a:solidFill>
                <a:srgbClr val="CC444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3-131F-46F9-A792-9F1ACED04D5D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RF+AG</c:v>
                </c:pt>
                <c:pt idx="1">
                  <c:v>RF</c:v>
                </c:pt>
                <c:pt idx="2">
                  <c:v>GB+AG</c:v>
                </c:pt>
                <c:pt idx="3">
                  <c:v>KNN+RS</c:v>
                </c:pt>
                <c:pt idx="4">
                  <c:v>Dec. Tree</c:v>
                </c:pt>
                <c:pt idx="5">
                  <c:v>Holt-W.</c:v>
                </c:pt>
                <c:pt idx="6">
                  <c:v>ARIMA</c:v>
                </c:pt>
                <c:pt idx="7">
                  <c:v>SARIMA</c:v>
                </c:pt>
                <c:pt idx="8">
                  <c:v>Reg.Lin.</c:v>
                </c:pt>
                <c:pt idx="9">
                  <c:v>Prophet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0.94389999999999996</c:v>
                </c:pt>
                <c:pt idx="1">
                  <c:v>0.94230000000000003</c:v>
                </c:pt>
                <c:pt idx="2">
                  <c:v>0.92920000000000003</c:v>
                </c:pt>
                <c:pt idx="3">
                  <c:v>0.89900000000000002</c:v>
                </c:pt>
                <c:pt idx="4">
                  <c:v>0.87680000000000002</c:v>
                </c:pt>
                <c:pt idx="5">
                  <c:v>0.85950000000000004</c:v>
                </c:pt>
                <c:pt idx="6">
                  <c:v>0.876</c:v>
                </c:pt>
                <c:pt idx="7">
                  <c:v>0.84719999999999995</c:v>
                </c:pt>
                <c:pt idx="8">
                  <c:v>0.4254</c:v>
                </c:pt>
                <c:pt idx="9">
                  <c:v>0.18099999999999999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131F-46F9-A792-9F1ACED04D5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DDDDD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b"/>
        <c:majorGridlines>
          <c:spPr>
            <a:ln w="6350" cap="flat">
              <a:solidFill>
                <a:srgbClr val="2D6A4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AAAA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A3A2A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FFFFFF"/>
                </a:solidFill>
                <a:latin typeface="Arial"/>
              </a:defRPr>
            </a:pPr>
            <a:r>
              <a:rPr lang="pt-BR" sz="1000" b="0" i="0" u="none" strike="noStrike">
                <a:solidFill>
                  <a:srgbClr val="FFFFFF"/>
                </a:solidFill>
                <a:latin typeface="Arial"/>
              </a:rPr>
              <a:t>Importância Média Absoluta SHAP — Random Forest (Figura 7 dos resultados)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SHAP Médio</c:v>
                </c:pt>
              </c:strCache>
            </c:strRef>
          </c:tx>
          <c:spPr>
            <a:solidFill>
              <a:srgbClr val="52B788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C3EC-49AB-8CB3-26E788023B0A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C3EC-49AB-8CB3-26E788023B0A}"/>
              </c:ext>
            </c:extLst>
          </c:dPt>
          <c:dPt>
            <c:idx val="2"/>
            <c:invertIfNegative val="0"/>
            <c:bubble3D val="0"/>
            <c:spPr>
              <a:solidFill>
                <a:srgbClr val="D4AC0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C3EC-49AB-8CB3-26E788023B0A}"/>
              </c:ext>
            </c:extLst>
          </c:dPt>
          <c:dPt>
            <c:idx val="3"/>
            <c:invertIfNegative val="0"/>
            <c:bubble3D val="0"/>
            <c:spPr>
              <a:solidFill>
                <a:srgbClr val="40916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C3EC-49AB-8CB3-26E788023B0A}"/>
              </c:ext>
            </c:extLst>
          </c:dPt>
          <c:dPt>
            <c:idx val="4"/>
            <c:invertIfNegative val="0"/>
            <c:bubble3D val="0"/>
            <c:spPr>
              <a:solidFill>
                <a:srgbClr val="2D6A4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C3EC-49AB-8CB3-26E788023B0A}"/>
              </c:ext>
            </c:extLst>
          </c:dPt>
          <c:dPt>
            <c:idx val="5"/>
            <c:invertIfNegative val="0"/>
            <c:bubble3D val="0"/>
            <c:spPr>
              <a:solidFill>
                <a:srgbClr val="95B8A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C3EC-49AB-8CB3-26E788023B0A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Mud. Uso Terra</c:v>
                </c:pt>
                <c:pt idx="1">
                  <c:v>Ano</c:v>
                </c:pt>
                <c:pt idx="2">
                  <c:v>Energia</c:v>
                </c:pt>
                <c:pt idx="3">
                  <c:v>Agropecuária</c:v>
                </c:pt>
                <c:pt idx="4">
                  <c:v>Proc. Ind.</c:v>
                </c:pt>
                <c:pt idx="5">
                  <c:v>Resíduos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7.6999999999999999E-2</c:v>
                </c:pt>
                <c:pt idx="1">
                  <c:v>4.9000000000000002E-2</c:v>
                </c:pt>
                <c:pt idx="2">
                  <c:v>1.7999999999999999E-2</c:v>
                </c:pt>
                <c:pt idx="3">
                  <c:v>1.2E-2</c:v>
                </c:pt>
                <c:pt idx="4">
                  <c:v>8.0000000000000002E-3</c:v>
                </c:pt>
                <c:pt idx="5">
                  <c:v>4.0000000000000001E-3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C3EC-49AB-8CB3-26E788023B0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DDDDD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2D6A4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AAAA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A3A2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A294C4-FE9B-4721-BD6B-C9CEACDB10A1}" type="datetimeFigureOut">
              <a:t>08/06/2026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04CEF4-FA4F-4D1C-8EFE-3FB2B8A0583A}" type="slidenum"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622994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1EC69F-8929-4A10-83B8-4BC91D64D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D0CC62-BF79-7B61-9A90-5467A850EE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21C764-6DCC-76C3-612C-133C2CE120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D0B7DC-C588-4E96-FC32-491E075BFC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53967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4EF485-E42D-B8CF-9512-0240EF0D38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B53F67-8D5B-390C-C15A-855E2836A9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2D6782-4525-5E02-2E0B-E7E5900C58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9B3D7B-B81A-B762-B083-F9C678FCF5A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020213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023232-3FAD-8509-30E1-AAA0CC7A90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AD200D-A3A4-1FB7-F83B-CB19C86861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264A6C-686C-5528-54AB-D42E3876A3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DFB477-A548-B871-C186-2B522B73CF7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929110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06086C-8112-B194-060B-7331497568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63389D-5632-CAC0-65EA-C44C0E8B6F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A06F54-7BE6-BC2D-0E98-F6066FC256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4D9617-F1F9-22ED-A06C-A9D424E3D55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075637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049FAC-8D62-7267-283A-11127A87CA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C38D5D-59E9-E976-DE5D-8E1153CB8E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CBC9E0-98CC-292B-BC7B-35F33A7073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15A21F-FE88-FBFD-FF52-36A683D6268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926965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2EC693-AA4C-BA26-0BAD-6A226F664D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EFC9BC-F868-CD93-F163-3292E5E0A0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CC0054-CA9C-F432-FA3C-BC64C7D64C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A9B1ED-6700-6225-0A2D-F0EBFCDC762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683095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2A5926-1F7E-967B-DF91-7E02EEDB06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555FB1-9D1D-3642-2EB7-932A0C7839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CE0EF3-2248-E679-908E-3641925918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1E9F81-13B1-B888-D782-7F051E3D955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585113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852160" cy="5143500"/>
          </a:xfrm>
          <a:prstGeom prst="rect">
            <a:avLst/>
          </a:prstGeom>
          <a:solidFill>
            <a:srgbClr val="2D6A4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-914400" y="-914400"/>
            <a:ext cx="4114800" cy="4114800"/>
          </a:xfrm>
          <a:prstGeom prst="ellipse">
            <a:avLst/>
          </a:prstGeom>
          <a:solidFill>
            <a:srgbClr val="52B788">
              <a:alpha val="25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-457200" y="-457200"/>
            <a:ext cx="2286000" cy="2286000"/>
          </a:xfrm>
          <a:prstGeom prst="ellipse">
            <a:avLst/>
          </a:prstGeom>
          <a:solidFill>
            <a:srgbClr val="52B788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182880" y="365760"/>
            <a:ext cx="5303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0" b="1" dirty="0">
                <a:solidFill>
                  <a:srgbClr val="FFFFFF">
                    <a:alpha val="88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CO₂</a:t>
            </a:r>
            <a:endParaRPr lang="en-US" sz="10000" dirty="0"/>
          </a:p>
        </p:txBody>
      </p:sp>
      <p:sp>
        <p:nvSpPr>
          <p:cNvPr id="6" name="Text 4"/>
          <p:cNvSpPr/>
          <p:nvPr/>
        </p:nvSpPr>
        <p:spPr>
          <a:xfrm>
            <a:off x="365760" y="228600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e Projeção de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365760" y="269748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D4AC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Emissão de CO₂ no Brasil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365760" y="3246120"/>
            <a:ext cx="3291840" cy="36576"/>
          </a:xfrm>
          <a:prstGeom prst="rect">
            <a:avLst/>
          </a:prstGeom>
          <a:solidFill>
            <a:srgbClr val="FFFFFF">
              <a:alpha val="55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365760" y="3364992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Computacional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3767328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Gabriel Muchon Pavanelli  |  Guilherme Pinheiro dos Santos  |  Richard Bernardino Mendes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" y="4133088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Faculdade Impacta — Bacharelado em Ciência da Computação | 2026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035040" y="54864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52B7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454.858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035040" y="1207008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 originais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92240" y="1508760"/>
            <a:ext cx="1920240" cy="36576"/>
          </a:xfrm>
          <a:prstGeom prst="rect">
            <a:avLst/>
          </a:prstGeom>
          <a:solidFill>
            <a:srgbClr val="FFFFFF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6035040" y="205740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40916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38.795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6035040" y="2715768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após filtragem CO₂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92240" y="3017520"/>
            <a:ext cx="1920240" cy="36576"/>
          </a:xfrm>
          <a:prstGeom prst="rect">
            <a:avLst/>
          </a:prstGeom>
          <a:solidFill>
            <a:srgbClr val="FFFFFF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6035040" y="356616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D4AC0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R²= 0,9439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6035040" y="4224528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melhor modelo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943600" y="47091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FFFFFF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Orientador: Prof. Vitor Furlan de Oliveira</a:t>
            </a:r>
            <a:endParaRPr lang="en-US" sz="8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A3A2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11480" y="914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Contextualização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2651760" cy="356616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2651760" cy="91440"/>
          </a:xfrm>
          <a:prstGeom prst="rect">
            <a:avLst/>
          </a:prstGeom>
          <a:solidFill>
            <a:srgbClr val="52B78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411480" y="123444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🌍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20116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CO₂ no Mundo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514600"/>
            <a:ext cx="2377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 gás de efeito estufa antropogênico, com longo tempo de permanência na atmosfera e impacto direto nas mudanças climáticas globais.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0" y="1005840"/>
            <a:ext cx="2651760" cy="356616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3200400" y="1005840"/>
            <a:ext cx="2651760" cy="91440"/>
          </a:xfrm>
          <a:prstGeom prst="rect">
            <a:avLst/>
          </a:prstGeom>
          <a:solidFill>
            <a:srgbClr val="40916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3291840" y="123444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🌿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3337560" y="20116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Particularidade Brasileira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37560" y="2514600"/>
            <a:ext cx="2377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Brasil, ao contrário de países industrializados, a maior parcela das emissões vem de Mudança de Uso da Terra — desmatamento e expansão agropecuária, não da indústria.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80760" y="1005840"/>
            <a:ext cx="2651760" cy="356616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6080760" y="1005840"/>
            <a:ext cx="2651760" cy="91440"/>
          </a:xfrm>
          <a:prstGeom prst="rect">
            <a:avLst/>
          </a:prstGeom>
          <a:solidFill>
            <a:srgbClr val="D4AC0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6172200" y="123444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📊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6217920" y="20116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Motivação do Estudo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17920" y="2514600"/>
            <a:ext cx="2377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Bases históricas como o SEEG permitem identificar tendências setoriais, analisar padrões e projetar cenários futuros para apoiar políticas públicas de mitigação climática.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A3A2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411480" y="4709160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2019, o Brasil emitiu aproximadamente 1,31 bilhão de toneladas de CO₂ — principal dado de referência deste projeto.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F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931920" cy="5143500"/>
          </a:xfrm>
          <a:prstGeom prst="rect">
            <a:avLst/>
          </a:prstGeom>
          <a:solidFill>
            <a:srgbClr val="2D6A4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274320" y="27432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Objetivos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2926080" cy="36576"/>
          </a:xfrm>
          <a:prstGeom prst="rect">
            <a:avLst/>
          </a:prstGeom>
          <a:solidFill>
            <a:srgbClr val="D4AC0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274320" y="11430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AC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Geral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74320" y="1508760"/>
            <a:ext cx="3383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Analisar o comportamento histórico das emissões de CO₂ no Brasil e aplicar modelos de Machine Learning para projetar cenários futuros, combinando análise exploratória, pré-processamento cuidadoso, modelagem preditiva e otimização via Algoritmo Genético.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251960" y="411480"/>
            <a:ext cx="4572000" cy="749808"/>
          </a:xfrm>
          <a:prstGeom prst="rect">
            <a:avLst/>
          </a:prstGeom>
          <a:solidFill>
            <a:srgbClr val="FFFFFF">
              <a:alpha val="9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4343400" y="576072"/>
            <a:ext cx="420624" cy="420624"/>
          </a:xfrm>
          <a:prstGeom prst="ellipse">
            <a:avLst/>
          </a:prstGeom>
          <a:solidFill>
            <a:srgbClr val="52B78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4343400" y="5760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828032" y="502920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Investigar padrões temporais e setoriais das emissões (1970–2019)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251960" y="1298448"/>
            <a:ext cx="4572000" cy="749808"/>
          </a:xfrm>
          <a:prstGeom prst="rect">
            <a:avLst/>
          </a:prstGeom>
          <a:solidFill>
            <a:srgbClr val="FFFFFF">
              <a:alpha val="9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4343400" y="1463040"/>
            <a:ext cx="420624" cy="420624"/>
          </a:xfrm>
          <a:prstGeom prst="ellipse">
            <a:avLst/>
          </a:prstGeom>
          <a:solidFill>
            <a:srgbClr val="52B78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4343400" y="14630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28032" y="1389888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e comparar 6 algoritmos de regressão supervisionada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251960" y="2185416"/>
            <a:ext cx="4572000" cy="749808"/>
          </a:xfrm>
          <a:prstGeom prst="rect">
            <a:avLst/>
          </a:prstGeom>
          <a:solidFill>
            <a:srgbClr val="FFFFFF">
              <a:alpha val="9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4343400" y="2350008"/>
            <a:ext cx="420624" cy="420624"/>
          </a:xfrm>
          <a:prstGeom prst="ellipse">
            <a:avLst/>
          </a:prstGeom>
          <a:solidFill>
            <a:srgbClr val="D4AC0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4343400" y="23500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28032" y="2276856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Avaliar métricas R², MAE e RMSE para selecionar o melhor modelo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251960" y="3072384"/>
            <a:ext cx="4572000" cy="749808"/>
          </a:xfrm>
          <a:prstGeom prst="rect">
            <a:avLst/>
          </a:prstGeom>
          <a:solidFill>
            <a:srgbClr val="FFFFFF">
              <a:alpha val="9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Shape 18"/>
          <p:cNvSpPr/>
          <p:nvPr/>
        </p:nvSpPr>
        <p:spPr>
          <a:xfrm>
            <a:off x="4343400" y="3236976"/>
            <a:ext cx="420624" cy="420624"/>
          </a:xfrm>
          <a:prstGeom prst="ellipse">
            <a:avLst/>
          </a:prstGeom>
          <a:solidFill>
            <a:srgbClr val="D4AC0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4343400" y="32369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28032" y="3163824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Otimizar hiperparâmetros com Algoritmo Genético e Random Search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251960" y="3959352"/>
            <a:ext cx="4572000" cy="749808"/>
          </a:xfrm>
          <a:prstGeom prst="rect">
            <a:avLst/>
          </a:prstGeom>
          <a:solidFill>
            <a:srgbClr val="FFFFFF">
              <a:alpha val="9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4" name="Shape 22"/>
          <p:cNvSpPr/>
          <p:nvPr/>
        </p:nvSpPr>
        <p:spPr>
          <a:xfrm>
            <a:off x="4343400" y="4123944"/>
            <a:ext cx="420624" cy="420624"/>
          </a:xfrm>
          <a:prstGeom prst="ellipse">
            <a:avLst/>
          </a:prstGeom>
          <a:solidFill>
            <a:srgbClr val="40916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4343400" y="41239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28032" y="4050792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Interpretar resultados via SHAP e propor políticas públicas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A3A2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11480" y="914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Base de Dados — SEEG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475488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4754880" cy="393192"/>
          </a:xfrm>
          <a:prstGeom prst="rect">
            <a:avLst/>
          </a:prstGeom>
          <a:solidFill>
            <a:srgbClr val="DFE6E9">
              <a:alpha val="75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457200" y="1152144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📂 Fonte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2148840" y="1152144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SEEG — Sistema de Estimativas de Emissões de GEE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57200" y="1545336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Registros originais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148840" y="1545336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454.858 registros / 12 colunas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0040" y="1883664"/>
            <a:ext cx="4754880" cy="393192"/>
          </a:xfrm>
          <a:prstGeom prst="rect">
            <a:avLst/>
          </a:prstGeom>
          <a:solidFill>
            <a:srgbClr val="DFE6E9">
              <a:alpha val="75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457200" y="193852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Gases distintos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148840" y="1938528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tipos representados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57200" y="233172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Foco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148840" y="2331720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Exclusivamente CO₂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0040" y="2670048"/>
            <a:ext cx="4754880" cy="393192"/>
          </a:xfrm>
          <a:prstGeom prst="rect">
            <a:avLst/>
          </a:prstGeom>
          <a:solidFill>
            <a:srgbClr val="DFE6E9">
              <a:alpha val="75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457200" y="272491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🗑️ Nulos removidos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148840" y="2724912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6.755 registros eliminados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57200" y="3118104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Após filtragem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148840" y="3118104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38.795 registros CO₂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0040" y="3456432"/>
            <a:ext cx="4754880" cy="393192"/>
          </a:xfrm>
          <a:prstGeom prst="rect">
            <a:avLst/>
          </a:prstGeom>
          <a:solidFill>
            <a:srgbClr val="DFE6E9">
              <a:alpha val="75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457200" y="3511296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Período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148840" y="3511296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1970–2019 (50 anos)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57200" y="390448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🏭 Setores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148840" y="3904488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Agropecuária, Energia, Mud. Uso da Terra, Proc. Industriais, Resíduos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0040" y="4242816"/>
            <a:ext cx="4754880" cy="393192"/>
          </a:xfrm>
          <a:prstGeom prst="rect">
            <a:avLst/>
          </a:prstGeom>
          <a:solidFill>
            <a:srgbClr val="DFE6E9">
              <a:alpha val="75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457200" y="429768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🔢 Amostras finais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2148840" y="4297680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 (após agregação anual × setor)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257800" y="1005840"/>
            <a:ext cx="1737360" cy="1828800"/>
          </a:xfrm>
          <a:prstGeom prst="rect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/>
          <p:nvPr/>
        </p:nvSpPr>
        <p:spPr>
          <a:xfrm>
            <a:off x="5257800" y="128016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454K</a:t>
            </a:r>
            <a:endParaRPr lang="en-US" sz="3000" dirty="0"/>
          </a:p>
        </p:txBody>
      </p:sp>
      <p:sp>
        <p:nvSpPr>
          <p:cNvPr id="30" name="Text 28"/>
          <p:cNvSpPr/>
          <p:nvPr/>
        </p:nvSpPr>
        <p:spPr>
          <a:xfrm>
            <a:off x="5257800" y="2121408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 brutos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7132320" y="1005840"/>
            <a:ext cx="1737360" cy="1828800"/>
          </a:xfrm>
          <a:prstGeom prst="rect">
            <a:avLst/>
          </a:prstGeom>
          <a:solidFill>
            <a:srgbClr val="40916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2" name="Text 30"/>
          <p:cNvSpPr/>
          <p:nvPr/>
        </p:nvSpPr>
        <p:spPr>
          <a:xfrm>
            <a:off x="7132320" y="128016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38.795</a:t>
            </a:r>
            <a:endParaRPr lang="en-US" sz="3000" dirty="0"/>
          </a:p>
        </p:txBody>
      </p:sp>
      <p:sp>
        <p:nvSpPr>
          <p:cNvPr id="33" name="Text 31"/>
          <p:cNvSpPr/>
          <p:nvPr/>
        </p:nvSpPr>
        <p:spPr>
          <a:xfrm>
            <a:off x="7132320" y="2121408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 CO₂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257800" y="3017520"/>
            <a:ext cx="1737360" cy="1828800"/>
          </a:xfrm>
          <a:prstGeom prst="rect">
            <a:avLst/>
          </a:prstGeom>
          <a:solidFill>
            <a:srgbClr val="D4AC0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5" name="Text 33"/>
          <p:cNvSpPr/>
          <p:nvPr/>
        </p:nvSpPr>
        <p:spPr>
          <a:xfrm>
            <a:off x="5257800" y="329184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250</a:t>
            </a:r>
            <a:endParaRPr lang="en-US" sz="3000" dirty="0"/>
          </a:p>
        </p:txBody>
      </p:sp>
      <p:sp>
        <p:nvSpPr>
          <p:cNvPr id="36" name="Text 34"/>
          <p:cNvSpPr/>
          <p:nvPr/>
        </p:nvSpPr>
        <p:spPr>
          <a:xfrm>
            <a:off x="5257800" y="4133088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amostras modelo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7132320" y="3017520"/>
            <a:ext cx="1737360" cy="1828800"/>
          </a:xfrm>
          <a:prstGeom prst="rect">
            <a:avLst/>
          </a:prstGeom>
          <a:solidFill>
            <a:srgbClr val="1A3A2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8" name="Text 36"/>
          <p:cNvSpPr/>
          <p:nvPr/>
        </p:nvSpPr>
        <p:spPr>
          <a:xfrm>
            <a:off x="7132320" y="329184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3000" dirty="0"/>
          </a:p>
        </p:txBody>
      </p:sp>
      <p:sp>
        <p:nvSpPr>
          <p:cNvPr id="39" name="Text 37"/>
          <p:cNvSpPr/>
          <p:nvPr/>
        </p:nvSpPr>
        <p:spPr>
          <a:xfrm>
            <a:off x="7132320" y="4133088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setores</a:t>
            </a:r>
            <a:endParaRPr lang="en-US" sz="9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50D313-9393-C0C6-A20C-E04062D486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15BD4D9-F240-49A5-7FCD-C8D113B2FA13}"/>
              </a:ext>
            </a:extLst>
          </p:cNvPr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A3A2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8458A3A-89EF-D13B-FF5A-1A6BD41B01CB}"/>
              </a:ext>
            </a:extLst>
          </p:cNvPr>
          <p:cNvSpPr/>
          <p:nvPr/>
        </p:nvSpPr>
        <p:spPr>
          <a:xfrm>
            <a:off x="411480" y="914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Base de Dados — SEEG</a:t>
            </a:r>
            <a:endParaRPr lang="en-US" sz="2800" dirty="0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65D89886-066F-E3F1-E954-CA9643EC58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043" y="1152658"/>
            <a:ext cx="7509913" cy="3632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492984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1A3FA7-638B-FEC2-D4F2-CADA767D3A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1C38A14-EC00-5AF1-81FA-113B16078FA7}"/>
              </a:ext>
            </a:extLst>
          </p:cNvPr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A3A2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A4FAAB7-146B-0919-8FA3-0B557D2E052B}"/>
              </a:ext>
            </a:extLst>
          </p:cNvPr>
          <p:cNvSpPr/>
          <p:nvPr/>
        </p:nvSpPr>
        <p:spPr>
          <a:xfrm>
            <a:off x="411480" y="914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Base de Dados — SEEG</a:t>
            </a:r>
            <a:endParaRPr lang="en-US" sz="28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E27DECA-67F5-D48D-B50B-167D3C6542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1208011"/>
            <a:ext cx="8681207" cy="3211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790354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F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40916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11480" y="914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EDA — Evolução Histórica (1970–2019)</a:t>
            </a:r>
            <a:endParaRPr lang="en-US" sz="2600" dirty="0"/>
          </a:p>
        </p:txBody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1341403281"/>
              </p:ext>
            </p:extLst>
          </p:nvPr>
        </p:nvGraphicFramePr>
        <p:xfrm>
          <a:off x="274320" y="960120"/>
          <a:ext cx="5120640" cy="3246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/>
        </p:nvGraphicFramePr>
        <p:xfrm>
          <a:off x="5577840" y="960120"/>
          <a:ext cx="3291840" cy="3246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Shape 2"/>
          <p:cNvSpPr/>
          <p:nvPr/>
        </p:nvSpPr>
        <p:spPr>
          <a:xfrm>
            <a:off x="274320" y="4315968"/>
            <a:ext cx="2788920" cy="566928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3"/>
          <p:cNvSpPr/>
          <p:nvPr/>
        </p:nvSpPr>
        <p:spPr>
          <a:xfrm>
            <a:off x="411480" y="4343400"/>
            <a:ext cx="2560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🔺  Picos 1995–2004 ligados a surtos de desmatamento na Amazônia</a:t>
            </a:r>
            <a:endParaRPr lang="en-US" sz="1000" dirty="0"/>
          </a:p>
        </p:txBody>
      </p:sp>
      <p:sp>
        <p:nvSpPr>
          <p:cNvPr id="8" name="Shape 4"/>
          <p:cNvSpPr/>
          <p:nvPr/>
        </p:nvSpPr>
        <p:spPr>
          <a:xfrm>
            <a:off x="3200400" y="4315968"/>
            <a:ext cx="2788920" cy="566928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5"/>
          <p:cNvSpPr/>
          <p:nvPr/>
        </p:nvSpPr>
        <p:spPr>
          <a:xfrm>
            <a:off x="3337560" y="4343400"/>
            <a:ext cx="2560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 Queda pós-2005 com PPCDAM e moratorium da soja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6126480" y="4315968"/>
            <a:ext cx="2788920" cy="566928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7"/>
          <p:cNvSpPr/>
          <p:nvPr/>
        </p:nvSpPr>
        <p:spPr>
          <a:xfrm>
            <a:off x="6263640" y="4343400"/>
            <a:ext cx="2560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Energia: crescimento contínuo ao longo de toda a série histórica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2D6A4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11480" y="914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EDA — Estatísticas Descritivas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2011680" cy="1371600"/>
          </a:xfrm>
          <a:prstGeom prst="rect">
            <a:avLst/>
          </a:prstGeom>
          <a:solidFill>
            <a:srgbClr val="2D6A4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320040" y="10972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50 anos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20040" y="17373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Período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1970–2019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496312" y="1005840"/>
            <a:ext cx="2011680" cy="1371600"/>
          </a:xfrm>
          <a:prstGeom prst="rect">
            <a:avLst/>
          </a:prstGeom>
          <a:solidFill>
            <a:srgbClr val="40916C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2496312" y="10972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1,31 Gt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496312" y="17373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Emissão 2019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(referência)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672584" y="1005840"/>
            <a:ext cx="2011680" cy="1371600"/>
          </a:xfrm>
          <a:prstGeom prst="rect">
            <a:avLst/>
          </a:prstGeom>
          <a:solidFill>
            <a:srgbClr val="AA3333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4672584" y="10972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4,12 Gt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672584" y="17373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Pico histórico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(~2004)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848856" y="1005840"/>
            <a:ext cx="2011680" cy="1371600"/>
          </a:xfrm>
          <a:prstGeom prst="rect">
            <a:avLst/>
          </a:prstGeom>
          <a:solidFill>
            <a:srgbClr val="D4AC0D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6848856" y="10972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250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848856" y="17373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Amostras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após agregação</a:t>
            </a:r>
            <a:endParaRPr lang="en-US" sz="9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5129"/>
              </p:ext>
            </p:extLst>
          </p:nvPr>
        </p:nvGraphicFramePr>
        <p:xfrm>
          <a:off x="274320" y="2514600"/>
          <a:ext cx="8595360" cy="2304288"/>
        </p:xfrm>
        <a:graphic>
          <a:graphicData uri="http://schemas.openxmlformats.org/drawingml/2006/table">
            <a:tbl>
              <a:tblPr/>
              <a:tblGrid>
                <a:gridCol w="17190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190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190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190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1907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Variável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Mín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Máx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Média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Mediana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Total CO₂ (G)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0,45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4,12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1,52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1,31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Mud. Uso Terra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6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0,06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6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2,70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6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0,85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6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0,72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6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Energia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0,04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0,38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0,17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0,14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Agropecuária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6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0,10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6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0,62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6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0,38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6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0,37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6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Proc. Industriais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0,01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0,09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0,04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0,04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F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40916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11480" y="914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Correlações — Importância das Features (SHAP)</a:t>
            </a:r>
            <a:endParaRPr lang="en-US" sz="2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960120"/>
          <a:ext cx="457200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5029200" y="96012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Interpretação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010912" y="1417320"/>
            <a:ext cx="64008" cy="685800"/>
          </a:xfrm>
          <a:prstGeom prst="rect">
            <a:avLst/>
          </a:prstGeom>
          <a:solidFill>
            <a:srgbClr val="52B78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Shape 4"/>
          <p:cNvSpPr/>
          <p:nvPr/>
        </p:nvSpPr>
        <p:spPr>
          <a:xfrm>
            <a:off x="5102352" y="1417320"/>
            <a:ext cx="3749040" cy="68580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5175504" y="1453896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🌳  Florestas dominam (0,077)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175504" y="1728216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Desmatamento é o principal driver — picos de emissão em 1995 e 2004 correspondem a recordes de desmatamento documentados pelo INPE.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010912" y="2258568"/>
            <a:ext cx="64008" cy="685800"/>
          </a:xfrm>
          <a:prstGeom prst="rect">
            <a:avLst/>
          </a:prstGeom>
          <a:solidFill>
            <a:srgbClr val="52B78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8"/>
          <p:cNvSpPr/>
          <p:nvPr/>
        </p:nvSpPr>
        <p:spPr>
          <a:xfrm>
            <a:off x="5102352" y="2258568"/>
            <a:ext cx="3749040" cy="68580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9"/>
          <p:cNvSpPr/>
          <p:nvPr/>
        </p:nvSpPr>
        <p:spPr>
          <a:xfrm>
            <a:off x="5175504" y="2295144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Dimensão temporal (0,049)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175504" y="2569464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'Ano' como feature confirma que há tendência temporal estrutural nas emissões — o modelo aprende com a evolução histórica.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5010912" y="3099816"/>
            <a:ext cx="64008" cy="685800"/>
          </a:xfrm>
          <a:prstGeom prst="rect">
            <a:avLst/>
          </a:prstGeom>
          <a:solidFill>
            <a:srgbClr val="D4AC0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Shape 12"/>
          <p:cNvSpPr/>
          <p:nvPr/>
        </p:nvSpPr>
        <p:spPr>
          <a:xfrm>
            <a:off x="5102352" y="3099816"/>
            <a:ext cx="3749040" cy="68580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3"/>
          <p:cNvSpPr/>
          <p:nvPr/>
        </p:nvSpPr>
        <p:spPr>
          <a:xfrm>
            <a:off x="5175504" y="3136392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Energia em expansão (0,018)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175504" y="3410712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Crescimento contínuo reflete industrialização, urbanização e aumento da demanda energética ao longo das décadas.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5010912" y="3941064"/>
            <a:ext cx="64008" cy="685800"/>
          </a:xfrm>
          <a:prstGeom prst="rect">
            <a:avLst/>
          </a:prstGeom>
          <a:solidFill>
            <a:srgbClr val="D4AC0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Shape 16"/>
          <p:cNvSpPr/>
          <p:nvPr/>
        </p:nvSpPr>
        <p:spPr>
          <a:xfrm>
            <a:off x="5102352" y="3941064"/>
            <a:ext cx="3749040" cy="68580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Text 17"/>
          <p:cNvSpPr/>
          <p:nvPr/>
        </p:nvSpPr>
        <p:spPr>
          <a:xfrm>
            <a:off x="5175504" y="3977640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Interações não-lineares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5175504" y="4251960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diferença entre RF (R²=0,94) e Regressão Linear (R²=0,42) demonstra relações complexas que só modelos ensemble capturam.</a:t>
            </a:r>
            <a:endParaRPr lang="en-US" sz="9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A3A2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11480" y="914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Pipeline de Machine Learning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1280160" cy="1417320"/>
          </a:xfrm>
          <a:prstGeom prst="rect">
            <a:avLst/>
          </a:prstGeom>
          <a:solidFill>
            <a:srgbClr val="52B78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320040" y="105156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>
                    <a:alpha val="70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20040" y="15087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Coleta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0040" y="182880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SEEG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454.858 reg.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600200" y="1645920"/>
            <a:ext cx="155448" cy="64008"/>
          </a:xfrm>
          <a:prstGeom prst="rect">
            <a:avLst/>
          </a:prstGeom>
          <a:solidFill>
            <a:srgbClr val="2D6A4F">
              <a:alpha val="70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1755648" y="1005840"/>
            <a:ext cx="1280160" cy="1417320"/>
          </a:xfrm>
          <a:prstGeom prst="rect">
            <a:avLst/>
          </a:prstGeom>
          <a:solidFill>
            <a:srgbClr val="40916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1755648" y="105156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>
                    <a:alpha val="70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1755648" y="15087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Limpeza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755648" y="182880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6.755 nulos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035808" y="1645920"/>
            <a:ext cx="155448" cy="64008"/>
          </a:xfrm>
          <a:prstGeom prst="rect">
            <a:avLst/>
          </a:prstGeom>
          <a:solidFill>
            <a:srgbClr val="2D6A4F">
              <a:alpha val="70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3191256" y="1005840"/>
            <a:ext cx="1280160" cy="1417320"/>
          </a:xfrm>
          <a:prstGeom prst="rect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3191256" y="105156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>
                    <a:alpha val="70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3191256" y="15087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Filtragem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191256" y="182880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Somente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CO₂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471416" y="1645920"/>
            <a:ext cx="155448" cy="64008"/>
          </a:xfrm>
          <a:prstGeom prst="rect">
            <a:avLst/>
          </a:prstGeom>
          <a:solidFill>
            <a:srgbClr val="2D6A4F">
              <a:alpha val="70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Shape 17"/>
          <p:cNvSpPr/>
          <p:nvPr/>
        </p:nvSpPr>
        <p:spPr>
          <a:xfrm>
            <a:off x="4626864" y="1005840"/>
            <a:ext cx="1280160" cy="1417320"/>
          </a:xfrm>
          <a:prstGeom prst="rect">
            <a:avLst/>
          </a:prstGeom>
          <a:solidFill>
            <a:srgbClr val="D4AC0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4626864" y="105156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>
                    <a:alpha val="70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4626864" y="15087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626864" y="182880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One-Hot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Setores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907024" y="1645920"/>
            <a:ext cx="155448" cy="64008"/>
          </a:xfrm>
          <a:prstGeom prst="rect">
            <a:avLst/>
          </a:prstGeom>
          <a:solidFill>
            <a:srgbClr val="2D6A4F">
              <a:alpha val="70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Shape 22"/>
          <p:cNvSpPr/>
          <p:nvPr/>
        </p:nvSpPr>
        <p:spPr>
          <a:xfrm>
            <a:off x="6062472" y="1005840"/>
            <a:ext cx="1280160" cy="1417320"/>
          </a:xfrm>
          <a:prstGeom prst="rect">
            <a:avLst/>
          </a:prstGeom>
          <a:solidFill>
            <a:srgbClr val="40916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6062472" y="105156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>
                    <a:alpha val="70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6062472" y="15087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062472" y="182880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Min-Max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[0,1]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342632" y="1645920"/>
            <a:ext cx="155448" cy="64008"/>
          </a:xfrm>
          <a:prstGeom prst="rect">
            <a:avLst/>
          </a:prstGeom>
          <a:solidFill>
            <a:srgbClr val="2D6A4F">
              <a:alpha val="70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Shape 27"/>
          <p:cNvSpPr/>
          <p:nvPr/>
        </p:nvSpPr>
        <p:spPr>
          <a:xfrm>
            <a:off x="7498080" y="1005840"/>
            <a:ext cx="1280160" cy="1417320"/>
          </a:xfrm>
          <a:prstGeom prst="rect">
            <a:avLst/>
          </a:prstGeom>
          <a:solidFill>
            <a:srgbClr val="52B78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0" name="Text 28"/>
          <p:cNvSpPr/>
          <p:nvPr/>
        </p:nvSpPr>
        <p:spPr>
          <a:xfrm>
            <a:off x="7498080" y="105156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>
                    <a:alpha val="70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7498080" y="15087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Agregação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498080" y="182880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 × Setor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 amostras</a:t>
            </a:r>
            <a:endParaRPr lang="en-US" sz="900" dirty="0"/>
          </a:p>
        </p:txBody>
      </p:sp>
      <p:graphicFrame>
        <p:nvGraphicFramePr>
          <p:cNvPr id="33" name="Chart 0"/>
          <p:cNvGraphicFramePr/>
          <p:nvPr/>
        </p:nvGraphicFramePr>
        <p:xfrm>
          <a:off x="274320" y="2578608"/>
          <a:ext cx="283464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4" name="Shape 31"/>
          <p:cNvSpPr/>
          <p:nvPr/>
        </p:nvSpPr>
        <p:spPr>
          <a:xfrm>
            <a:off x="3246120" y="2532888"/>
            <a:ext cx="5577840" cy="23774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5" name="Text 32"/>
          <p:cNvSpPr/>
          <p:nvPr/>
        </p:nvSpPr>
        <p:spPr>
          <a:xfrm>
            <a:off x="3383280" y="2624328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Algoritmos Avaliados</a:t>
            </a:r>
            <a:endParaRPr lang="en-US" sz="1300" dirty="0"/>
          </a:p>
        </p:txBody>
      </p:sp>
      <p:sp>
        <p:nvSpPr>
          <p:cNvPr id="36" name="Text 33"/>
          <p:cNvSpPr/>
          <p:nvPr/>
        </p:nvSpPr>
        <p:spPr>
          <a:xfrm>
            <a:off x="3383280" y="30632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🌲 Floresta Aleatória (RF)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6126480" y="30632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Gradient Boosting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3383280" y="3593592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KNN Regressor</a:t>
            </a:r>
            <a:endParaRPr lang="en-US" sz="1100" dirty="0"/>
          </a:p>
        </p:txBody>
      </p:sp>
      <p:sp>
        <p:nvSpPr>
          <p:cNvPr id="39" name="Text 36"/>
          <p:cNvSpPr/>
          <p:nvPr/>
        </p:nvSpPr>
        <p:spPr>
          <a:xfrm>
            <a:off x="6126480" y="3593592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🌳 Árvore de Regressão</a:t>
            </a:r>
            <a:endParaRPr lang="en-US" sz="1100" dirty="0"/>
          </a:p>
        </p:txBody>
      </p:sp>
      <p:sp>
        <p:nvSpPr>
          <p:cNvPr id="40" name="Text 37"/>
          <p:cNvSpPr/>
          <p:nvPr/>
        </p:nvSpPr>
        <p:spPr>
          <a:xfrm>
            <a:off x="3383280" y="4123944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SVR</a:t>
            </a:r>
            <a:endParaRPr lang="en-US" sz="1100" dirty="0"/>
          </a:p>
        </p:txBody>
      </p:sp>
      <p:sp>
        <p:nvSpPr>
          <p:cNvPr id="41" name="Text 38"/>
          <p:cNvSpPr/>
          <p:nvPr/>
        </p:nvSpPr>
        <p:spPr>
          <a:xfrm>
            <a:off x="6126480" y="4123944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📏 Regressão Linear Múltipla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F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2D6A4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11480" y="914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Regressão Linear e Múltipla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389120" cy="2286000"/>
          </a:xfrm>
          <a:prstGeom prst="rect">
            <a:avLst/>
          </a:prstGeom>
          <a:solidFill>
            <a:srgbClr val="FFFFFF">
              <a:alpha val="9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411480" y="102412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  O que é?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11480" y="1417320"/>
            <a:ext cx="41605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>
                    <a:alpha val="9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Regressão Linear: </a:t>
            </a:r>
            <a:r>
              <a:rPr lang="en-US" sz="1100" dirty="0">
                <a:solidFill>
                  <a:srgbClr val="FFFFFF">
                    <a:alpha val="9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 relação como linha reta — y = β₀ + β₁x + ε
</a:t>
            </a:r>
            <a:r>
              <a:rPr lang="en-US" sz="1100" b="1" dirty="0">
                <a:solidFill>
                  <a:srgbClr val="FFFFFF">
                    <a:alpha val="9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Regressão Múltipla: </a:t>
            </a:r>
            <a:r>
              <a:rPr lang="en-US" sz="1100" dirty="0">
                <a:solidFill>
                  <a:srgbClr val="FFFFFF">
                    <a:alpha val="9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múltiplas features — y = β₀ + β₁x₁ + β₂x₂ + ... + βₙxₙ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>
                    <a:alpha val="9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projeto: features = ano + setores (One-Hot). Variável-alvo: emissão normalizada de CO₂.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3337560"/>
            <a:ext cx="4389120" cy="1481328"/>
          </a:xfrm>
          <a:prstGeom prst="rect">
            <a:avLst/>
          </a:prstGeom>
          <a:solidFill>
            <a:srgbClr val="8B0000">
              <a:alpha val="9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411480" y="340156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Resultado no Projeto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3767328"/>
            <a:ext cx="4160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= 0,425 — Classificação: Fraco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= 0,0647  |  RMSE = 0,1188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Projeção: valores negativos a partir de ~2080 — fisicamente impossível.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Limitação: não captura relações não-lineares do problema.</a:t>
            </a:r>
            <a:endParaRPr lang="en-US" sz="11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960120"/>
            <a:ext cx="4069080" cy="25603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800600" y="3566160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FFFFFF">
                    <a:alpha val="62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⬆ Projeção Regressão Linear — valores negativos a partir de 2080 (Figura 7)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4800600" y="3913632"/>
            <a:ext cx="4069080" cy="914400"/>
          </a:xfrm>
          <a:prstGeom prst="rect">
            <a:avLst/>
          </a:prstGeom>
          <a:solidFill>
            <a:srgbClr val="FFFFFF">
              <a:alpha val="9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/>
          <p:nvPr/>
        </p:nvSpPr>
        <p:spPr>
          <a:xfrm>
            <a:off x="4937760" y="3959352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>
                    <a:alpha val="9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Lição: Modelos lineares servem como baseline comparativo. Para fenômenos ambientais com restrições físicas e padrões não-lineares, métodos de ensemble são superiores.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40916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11480" y="914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Algoritmo Genético — Otimização de Hiperparâmetros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420624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4206240" cy="91440"/>
          </a:xfrm>
          <a:prstGeom prst="rect">
            <a:avLst/>
          </a:prstGeom>
          <a:solidFill>
            <a:srgbClr val="52B78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530352" cy="530352"/>
          </a:xfrm>
          <a:prstGeom prst="ellipse">
            <a:avLst/>
          </a:prstGeom>
          <a:solidFill>
            <a:srgbClr val="52B78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🧬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97280" y="117043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Inicialização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97280" y="1517904"/>
            <a:ext cx="3291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 população inicial de soluções (combinações de hiperparâmetros) aleatórias. Cada 'indivíduo' = uma config. do modelo.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754880" y="1005840"/>
            <a:ext cx="420624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4754880" y="1005840"/>
            <a:ext cx="4206240" cy="91440"/>
          </a:xfrm>
          <a:prstGeom prst="rect">
            <a:avLst/>
          </a:prstGeom>
          <a:solidFill>
            <a:srgbClr val="40916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4892040" y="1280160"/>
            <a:ext cx="530352" cy="530352"/>
          </a:xfrm>
          <a:prstGeom prst="ellipse">
            <a:avLst/>
          </a:prstGeom>
          <a:solidFill>
            <a:srgbClr val="40916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4892040" y="128016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📊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532120" y="117043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Avaliação (Fitness)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532120" y="1517904"/>
            <a:ext cx="3291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 cada solução pelo R² do modelo treinado — maior R² = maior aptidão genética.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" y="2350008"/>
            <a:ext cx="420624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320040" y="2350008"/>
            <a:ext cx="4206240" cy="91440"/>
          </a:xfrm>
          <a:prstGeom prst="rect">
            <a:avLst/>
          </a:prstGeom>
          <a:solidFill>
            <a:srgbClr val="2D6A4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Shape 16"/>
          <p:cNvSpPr/>
          <p:nvPr/>
        </p:nvSpPr>
        <p:spPr>
          <a:xfrm>
            <a:off x="457200" y="2624328"/>
            <a:ext cx="530352" cy="530352"/>
          </a:xfrm>
          <a:prstGeom prst="ellipse">
            <a:avLst/>
          </a:prstGeom>
          <a:solidFill>
            <a:srgbClr val="2D6A4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457200" y="262432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🏆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97280" y="25146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Seleção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97280" y="2862072"/>
            <a:ext cx="3291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Seleciona os melhores indivíduos (tournament selection ou roleta) para reprodução na próxima geração.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754880" y="2350008"/>
            <a:ext cx="420624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3" name="Shape 21"/>
          <p:cNvSpPr/>
          <p:nvPr/>
        </p:nvSpPr>
        <p:spPr>
          <a:xfrm>
            <a:off x="4754880" y="2350008"/>
            <a:ext cx="4206240" cy="91440"/>
          </a:xfrm>
          <a:prstGeom prst="rect">
            <a:avLst/>
          </a:prstGeom>
          <a:solidFill>
            <a:srgbClr val="D4AC0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Shape 22"/>
          <p:cNvSpPr/>
          <p:nvPr/>
        </p:nvSpPr>
        <p:spPr>
          <a:xfrm>
            <a:off x="4892040" y="2624328"/>
            <a:ext cx="530352" cy="530352"/>
          </a:xfrm>
          <a:prstGeom prst="ellipse">
            <a:avLst/>
          </a:prstGeom>
          <a:solidFill>
            <a:srgbClr val="D4AC0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4892040" y="262432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🔀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532120" y="25146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Cruzamento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532120" y="2862072"/>
            <a:ext cx="3291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 parâmetros de dois 'pais' para gerar filhos — herda as melhores características de ambos.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20040" y="3694176"/>
            <a:ext cx="420624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9" name="Shape 27"/>
          <p:cNvSpPr/>
          <p:nvPr/>
        </p:nvSpPr>
        <p:spPr>
          <a:xfrm>
            <a:off x="320040" y="3694176"/>
            <a:ext cx="4206240" cy="91440"/>
          </a:xfrm>
          <a:prstGeom prst="rect">
            <a:avLst/>
          </a:prstGeom>
          <a:solidFill>
            <a:srgbClr val="40916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0" name="Shape 28"/>
          <p:cNvSpPr/>
          <p:nvPr/>
        </p:nvSpPr>
        <p:spPr>
          <a:xfrm>
            <a:off x="457200" y="3968496"/>
            <a:ext cx="530352" cy="530352"/>
          </a:xfrm>
          <a:prstGeom prst="ellipse">
            <a:avLst/>
          </a:prstGeom>
          <a:solidFill>
            <a:srgbClr val="40916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Text 29"/>
          <p:cNvSpPr/>
          <p:nvPr/>
        </p:nvSpPr>
        <p:spPr>
          <a:xfrm>
            <a:off x="457200" y="396849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🎲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097280" y="385876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Mutação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097280" y="4206240"/>
            <a:ext cx="3291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Altera aleatoriamente um gene (parâmetro) para explorar novas regiões do espaço de busca e evitar convergência prematura.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754880" y="3694176"/>
            <a:ext cx="420624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5" name="Shape 33"/>
          <p:cNvSpPr/>
          <p:nvPr/>
        </p:nvSpPr>
        <p:spPr>
          <a:xfrm>
            <a:off x="4754880" y="3694176"/>
            <a:ext cx="4206240" cy="91440"/>
          </a:xfrm>
          <a:prstGeom prst="rect">
            <a:avLst/>
          </a:prstGeom>
          <a:solidFill>
            <a:srgbClr val="52B78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6" name="Shape 34"/>
          <p:cNvSpPr/>
          <p:nvPr/>
        </p:nvSpPr>
        <p:spPr>
          <a:xfrm>
            <a:off x="4892040" y="3968496"/>
            <a:ext cx="530352" cy="530352"/>
          </a:xfrm>
          <a:prstGeom prst="ellipse">
            <a:avLst/>
          </a:prstGeom>
          <a:solidFill>
            <a:srgbClr val="52B78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7" name="Text 35"/>
          <p:cNvSpPr/>
          <p:nvPr/>
        </p:nvSpPr>
        <p:spPr>
          <a:xfrm>
            <a:off x="4892040" y="396849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🔁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5532120" y="385876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Iteração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532120" y="4206240"/>
            <a:ext cx="3291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Repete seleção→cruzamento→mutação por N gerações. Convergência: quando R² não melhora significativamente.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A3A2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1" name="Text 39"/>
          <p:cNvSpPr/>
          <p:nvPr/>
        </p:nvSpPr>
        <p:spPr>
          <a:xfrm>
            <a:off x="411480" y="4709160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projeto: AG otimizou n_estimators, max_depth e max_features do Random Forest → R² de 0,9423 → 0,9439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F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Justificativa — Por Que Algoritmo Genético?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960120"/>
            <a:ext cx="4114800" cy="3794760"/>
          </a:xfrm>
          <a:prstGeom prst="rect">
            <a:avLst/>
          </a:prstGeom>
          <a:solidFill>
            <a:srgbClr val="1A3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1033271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2B788"/>
                </a:solidFill>
              </a:rPr>
              <a:t>Alternativas Consideradas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481328"/>
            <a:ext cx="4114800" cy="713232"/>
          </a:xfrm>
          <a:prstGeom prst="rect">
            <a:avLst/>
          </a:prstGeom>
          <a:solidFill>
            <a:srgbClr val="255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80" y="1554480"/>
            <a:ext cx="1417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DDDDD"/>
                </a:solidFill>
              </a:rPr>
              <a:t>Grid Search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1554480"/>
            <a:ext cx="239572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DDDDD"/>
                </a:solidFill>
              </a:rPr>
              <a:t>Exaustivo — impraticável para muitos parâmetros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276856"/>
            <a:ext cx="4114800" cy="713232"/>
          </a:xfrm>
          <a:prstGeom prst="rect">
            <a:avLst/>
          </a:prstGeom>
          <a:solidFill>
            <a:srgbClr val="255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11480" y="2350008"/>
            <a:ext cx="1417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DDDDD"/>
                </a:solidFill>
              </a:rPr>
              <a:t>Random Search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2350008"/>
            <a:ext cx="239572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DDDDD"/>
                </a:solidFill>
              </a:rPr>
              <a:t>Eficiente mas sem direcionamento inteligente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072384"/>
            <a:ext cx="4114800" cy="713232"/>
          </a:xfrm>
          <a:prstGeom prst="rect">
            <a:avLst/>
          </a:prstGeom>
          <a:solidFill>
            <a:srgbClr val="255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11480" y="3145536"/>
            <a:ext cx="1417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DDDDD"/>
                </a:solidFill>
              </a:rPr>
              <a:t>Bayesian Optim.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4519" y="3145536"/>
            <a:ext cx="239572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DDDDD"/>
                </a:solidFill>
              </a:rPr>
              <a:t>Alta complexidade de implementação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867912"/>
            <a:ext cx="4114800" cy="713232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11480" y="3941064"/>
            <a:ext cx="1417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✅  Alg. Genético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19" y="3941064"/>
            <a:ext cx="239572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Busca inteligente + paralela + sem suposições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617720" y="960120"/>
            <a:ext cx="4206240" cy="3794760"/>
          </a:xfrm>
          <a:prstGeom prst="rect">
            <a:avLst/>
          </a:prstGeom>
          <a:solidFill>
            <a:srgbClr val="204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754880" y="1033271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4AC0D"/>
                </a:solidFill>
              </a:rPr>
              <a:t>Vantagens do AG no Projeto</a:t>
            </a:r>
          </a:p>
        </p:txBody>
      </p:sp>
      <p:sp>
        <p:nvSpPr>
          <p:cNvPr id="21" name="Oval 20"/>
          <p:cNvSpPr/>
          <p:nvPr/>
        </p:nvSpPr>
        <p:spPr>
          <a:xfrm>
            <a:off x="4754880" y="1591056"/>
            <a:ext cx="530352" cy="530352"/>
          </a:xfrm>
          <a:prstGeom prst="ellipse">
            <a:avLst/>
          </a:prstGeom>
          <a:solidFill>
            <a:srgbClr val="D4AC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754880" y="1591056"/>
            <a:ext cx="5303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</a:rPr>
              <a:t>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76672" y="1591056"/>
            <a:ext cx="33101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Busca Global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76672" y="1956816"/>
            <a:ext cx="331012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DDDDD"/>
                </a:solidFill>
              </a:rPr>
              <a:t>Explora todo o espaço de hiperparâmetros sem ficar preso em ótimos locais ou regiões sub-ótimas.</a:t>
            </a:r>
          </a:p>
        </p:txBody>
      </p:sp>
      <p:sp>
        <p:nvSpPr>
          <p:cNvPr id="25" name="Oval 24"/>
          <p:cNvSpPr/>
          <p:nvPr/>
        </p:nvSpPr>
        <p:spPr>
          <a:xfrm>
            <a:off x="4754880" y="2688336"/>
            <a:ext cx="530352" cy="530352"/>
          </a:xfrm>
          <a:prstGeom prst="ellipse">
            <a:avLst/>
          </a:prstGeom>
          <a:solidFill>
            <a:srgbClr val="D4AC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754880" y="2688336"/>
            <a:ext cx="5303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</a:rPr>
              <a:t>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76672" y="2688336"/>
            <a:ext cx="33101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Eficiência Computacional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76672" y="3054096"/>
            <a:ext cx="331012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DDDDD"/>
                </a:solidFill>
              </a:rPr>
              <a:t>Converge mais rápido que Grid Search em espaços de alta dimensão, sem testar todas as combinações.</a:t>
            </a:r>
          </a:p>
        </p:txBody>
      </p:sp>
      <p:sp>
        <p:nvSpPr>
          <p:cNvPr id="29" name="Oval 28"/>
          <p:cNvSpPr/>
          <p:nvPr/>
        </p:nvSpPr>
        <p:spPr>
          <a:xfrm>
            <a:off x="4754880" y="3785615"/>
            <a:ext cx="530352" cy="530352"/>
          </a:xfrm>
          <a:prstGeom prst="ellipse">
            <a:avLst/>
          </a:prstGeom>
          <a:solidFill>
            <a:srgbClr val="D4AC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754880" y="3785615"/>
            <a:ext cx="5303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</a:rPr>
              <a:t>📈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76672" y="3785615"/>
            <a:ext cx="33101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Melhoria Comprovada no Projeto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76672" y="4151375"/>
            <a:ext cx="331012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DDDDD"/>
                </a:solidFill>
              </a:rPr>
              <a:t>Elevou R² de 0,9423 → 0,9439 e reduziu RMSE de 0,0376 → 0,0371 no Random Forest.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A3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11480" y="4709160"/>
            <a:ext cx="8321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No projeto: AG otimizou n_estimators, max_depth e max_features do RF → R² subiu de 0,9423 para 0,9439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A3A2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11480" y="914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Métricas de Avaliação dos Modelos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4206240" cy="18745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4206240" cy="91440"/>
          </a:xfrm>
          <a:prstGeom prst="rect">
            <a:avLst/>
          </a:prstGeom>
          <a:solidFill>
            <a:srgbClr val="52B78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320040" y="960120"/>
            <a:ext cx="804672" cy="1874520"/>
          </a:xfrm>
          <a:prstGeom prst="rect">
            <a:avLst/>
          </a:prstGeom>
          <a:solidFill>
            <a:srgbClr val="52B788">
              <a:alpha val="12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320040" y="1417320"/>
            <a:ext cx="804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2B7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R²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97864" y="10515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Coeficiente de Determinação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1197864" y="139903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1 − Σ(yᵢ−ŷᵢ)²/Σ(yᵢ−ȳ)²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97864" y="169164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Proporção da variabilidade explicada. 0=nenhuma, 1=total. Negativos=pior que baseline.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197864" y="2276856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RF+AG: R² = 0,9439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0" y="960120"/>
            <a:ext cx="4206240" cy="18745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4754880" y="960120"/>
            <a:ext cx="4206240" cy="91440"/>
          </a:xfrm>
          <a:prstGeom prst="rect">
            <a:avLst/>
          </a:prstGeom>
          <a:solidFill>
            <a:srgbClr val="40916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4754880" y="960120"/>
            <a:ext cx="804672" cy="1874520"/>
          </a:xfrm>
          <a:prstGeom prst="rect">
            <a:avLst/>
          </a:prstGeom>
          <a:solidFill>
            <a:srgbClr val="40916C">
              <a:alpha val="12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4754880" y="1417320"/>
            <a:ext cx="804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0916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632704" y="10515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 Médio Absoluto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632704" y="139903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(1/n) Σ |yᵢ − ŷᵢ|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632704" y="169164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 médio sem penalização por magnitude. Mesma unidade de y. Fácil interpretação.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632704" y="2276856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09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RF+AG: MAE = 0,0132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" y="2990088"/>
            <a:ext cx="4206240" cy="18745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320040" y="2990088"/>
            <a:ext cx="4206240" cy="91440"/>
          </a:xfrm>
          <a:prstGeom prst="rect">
            <a:avLst/>
          </a:prstGeom>
          <a:solidFill>
            <a:srgbClr val="D4AC0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Shape 20"/>
          <p:cNvSpPr/>
          <p:nvPr/>
        </p:nvSpPr>
        <p:spPr>
          <a:xfrm>
            <a:off x="320040" y="2990088"/>
            <a:ext cx="804672" cy="1874520"/>
          </a:xfrm>
          <a:prstGeom prst="rect">
            <a:avLst/>
          </a:prstGeom>
          <a:solidFill>
            <a:srgbClr val="D4AC0D">
              <a:alpha val="12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320040" y="3447288"/>
            <a:ext cx="804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4AC0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RMSE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197864" y="308152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Raiz do Erro Quadrático Médio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1197864" y="342900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√[(1/n) Σ(yᵢ − ŷᵢ)²]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97864" y="372160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Penaliza erros grandes mais severamente. Sensível a outliers. Mesma unidade de y.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1197864" y="4306824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4AC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RF+AG: RMSE = 0,0371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54880" y="2990088"/>
            <a:ext cx="4206240" cy="18745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9" name="Shape 27"/>
          <p:cNvSpPr/>
          <p:nvPr/>
        </p:nvSpPr>
        <p:spPr>
          <a:xfrm>
            <a:off x="4754880" y="2990088"/>
            <a:ext cx="4206240" cy="91440"/>
          </a:xfrm>
          <a:prstGeom prst="rect">
            <a:avLst/>
          </a:prstGeom>
          <a:solidFill>
            <a:srgbClr val="2D6A4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0" name="Shape 28"/>
          <p:cNvSpPr/>
          <p:nvPr/>
        </p:nvSpPr>
        <p:spPr>
          <a:xfrm>
            <a:off x="4754880" y="2990088"/>
            <a:ext cx="804672" cy="1874520"/>
          </a:xfrm>
          <a:prstGeom prst="rect">
            <a:avLst/>
          </a:prstGeom>
          <a:solidFill>
            <a:srgbClr val="2D6A4F">
              <a:alpha val="12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Text 29"/>
          <p:cNvSpPr/>
          <p:nvPr/>
        </p:nvSpPr>
        <p:spPr>
          <a:xfrm>
            <a:off x="4754880" y="3447288"/>
            <a:ext cx="804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D6A4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MSE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632704" y="308152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 Quadrático Médio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5632704" y="342900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(1/n) Σ(yᵢ − ŷᵢ)²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632704" y="372160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ao quadrado. Usado internamente nos algoritmos. Amplifica diferenças entre modelos.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632704" y="4306824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RF+AG: MSE = 0,00138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F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40916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11480" y="914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Benchmarking — Todos os Modelos</a:t>
            </a:r>
            <a:endParaRPr lang="en-US" sz="26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960120"/>
          <a:ext cx="502920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4960" y="960120"/>
            <a:ext cx="3474720" cy="256032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394960" y="354787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FFFFFF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⬆ Tabela ranking global — todos os modelos avaliados (Figura 22)</a:t>
            </a:r>
            <a:endParaRPr lang="en-US" sz="850" dirty="0"/>
          </a:p>
        </p:txBody>
      </p:sp>
      <p:sp>
        <p:nvSpPr>
          <p:cNvPr id="7" name="Shape 3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52B78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4"/>
          <p:cNvSpPr/>
          <p:nvPr/>
        </p:nvSpPr>
        <p:spPr>
          <a:xfrm>
            <a:off x="411480" y="4709160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RF + AG: R²=0,9439 | MAE=0,0132 | RMSE=0,0371 — superior em todas as métricas entre todos os modelos testados.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2D6A4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11480" y="914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Resultados — Benchmarking Detalhado</a:t>
            </a:r>
            <a:endParaRPr lang="en-US" sz="26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87552"/>
          <a:ext cx="5669280" cy="3364992"/>
        </p:xfrm>
        <a:graphic>
          <a:graphicData uri="http://schemas.openxmlformats.org/drawingml/2006/table">
            <a:tbl>
              <a:tblPr/>
              <a:tblGrid>
                <a:gridCol w="11338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38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338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338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3385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Modelo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MAE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RMSE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R²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</a:rPr>
                        <a:t>🥇 RF + AG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0,0132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0,0371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2D6A4F"/>
                          </a:solidFill>
                        </a:rPr>
                        <a:t>0,9439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2D6A4F"/>
                          </a:solidFill>
                        </a:rPr>
                        <a:t>⭐ Excelente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🥈 RF (padrão)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0,0133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0,0376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2D6A4F"/>
                          </a:solidFill>
                        </a:rPr>
                        <a:t>0,9423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2D6A4F"/>
                          </a:solidFill>
                        </a:rPr>
                        <a:t>⭐ Excelente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GB + AG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0,0138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0,0417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40916C"/>
                          </a:solidFill>
                        </a:rPr>
                        <a:t>0,9292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40916C"/>
                          </a:solidFill>
                        </a:rPr>
                        <a:t>Excelente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KNN + RS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0,0146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0,0499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40916C"/>
                          </a:solidFill>
                        </a:rPr>
                        <a:t>0,8990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40916C"/>
                          </a:solidFill>
                        </a:rPr>
                        <a:t>Excelente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Decision Tree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0,0165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0,0549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D4AC0D"/>
                          </a:solidFill>
                        </a:rPr>
                        <a:t>0,8768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D4AC0D"/>
                          </a:solidFill>
                        </a:rPr>
                        <a:t>Bom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SVR (otim.)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0,0314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0,0884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D4AC0D"/>
                          </a:solidFill>
                        </a:rPr>
                        <a:t>0,6817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D4AC0D"/>
                          </a:solidFill>
                        </a:rPr>
                        <a:t>Razoável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Reg. Linear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0,0647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0,1188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C4444"/>
                          </a:solidFill>
                        </a:rPr>
                        <a:t>0,4254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CC4444"/>
                          </a:solidFill>
                        </a:rPr>
                        <a:t>❌ Fraco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6035040" y="331012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⬆ Saída real do notebook (Figura 2)</a:t>
            </a:r>
            <a:endParaRPr lang="en-US" sz="800" dirty="0"/>
          </a:p>
        </p:txBody>
      </p:sp>
      <p:sp>
        <p:nvSpPr>
          <p:cNvPr id="7" name="Shape 3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A3A2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4"/>
          <p:cNvSpPr/>
          <p:nvPr/>
        </p:nvSpPr>
        <p:spPr>
          <a:xfrm>
            <a:off x="411480" y="4709160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+ AG: melhor modelo em R², MAE e RMSE. Gradient Boosting + AG em segundo.</a:t>
            </a:r>
            <a:endParaRPr lang="en-US" sz="1100" dirty="0"/>
          </a:p>
        </p:txBody>
      </p:sp>
      <p:pic>
        <p:nvPicPr>
          <p:cNvPr id="9" name="Imagem 8" descr="image3.png">
            <a:extLst>
              <a:ext uri="{FF2B5EF4-FFF2-40B4-BE49-F238E27FC236}">
                <a16:creationId xmlns:a16="http://schemas.microsoft.com/office/drawing/2014/main" id="{1292E809-4515-B914-1B4D-C6E40937630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62" r="-262"/>
          <a:stretch>
            <a:fillRect/>
          </a:stretch>
        </p:blipFill>
        <p:spPr>
          <a:xfrm>
            <a:off x="5940470" y="990600"/>
            <a:ext cx="3162300" cy="20193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2D6A4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11480" y="914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Modelo Final — Random Forest + Algoritmo Genético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3200400" cy="3840480"/>
          </a:xfrm>
          <a:prstGeom prst="rect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274320" y="109728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dirty="0">
                <a:solidFill>
                  <a:srgbClr val="000000"/>
                </a:solidFill>
              </a:rPr>
              <a:t>🏆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274320" y="210312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D4AC0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MODELO VENCEDOR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4320" y="2578608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Algoritmo Genético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57200" y="3493008"/>
            <a:ext cx="2834640" cy="36576"/>
          </a:xfrm>
          <a:prstGeom prst="rect">
            <a:avLst/>
          </a:prstGeom>
          <a:solidFill>
            <a:srgbClr val="D4AC0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274320" y="3639312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R²: 0,9439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74320" y="389534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MAE: 0,0132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74320" y="415137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RMSE: 0,0371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74320" y="4407408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MSE: 0,00138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0" y="960120"/>
            <a:ext cx="5166360" cy="384048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3794760" y="1024128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de Seleção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0" y="1463040"/>
            <a:ext cx="5166360" cy="594360"/>
          </a:xfrm>
          <a:prstGeom prst="rect">
            <a:avLst/>
          </a:prstGeom>
          <a:solidFill>
            <a:srgbClr val="DFE6E9">
              <a:alpha val="85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3794760" y="151790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Maior R² (0,9439)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794760" y="1773936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 94,39% da variabilidade das emissões — superior a todos os demais.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657600" y="2121408"/>
            <a:ext cx="5166360" cy="594360"/>
          </a:xfrm>
          <a:prstGeom prst="rect">
            <a:avLst/>
          </a:prstGeom>
          <a:solidFill>
            <a:srgbClr val="F8F9FA">
              <a:alpha val="85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3794760" y="217627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Menor RMSE (0,0371)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794760" y="2432304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Minimiza erros grandes, garantindo confiabilidade nas projeções.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657600" y="2779776"/>
            <a:ext cx="5166360" cy="594360"/>
          </a:xfrm>
          <a:prstGeom prst="rect">
            <a:avLst/>
          </a:prstGeom>
          <a:solidFill>
            <a:srgbClr val="DFE6E9">
              <a:alpha val="85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3794760" y="283464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Interpretabilidade SHAP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794760" y="3090672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 identificar quais features mais influenciam cada predição.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657600" y="3438144"/>
            <a:ext cx="5166360" cy="594360"/>
          </a:xfrm>
          <a:prstGeom prst="rect">
            <a:avLst/>
          </a:prstGeom>
          <a:solidFill>
            <a:srgbClr val="F8F9FA">
              <a:alpha val="85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3794760" y="349300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Robustez a não-linearidades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794760" y="3749040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de árvores captura padrões complexos e variações abruptas.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657600" y="4096512"/>
            <a:ext cx="5166360" cy="594360"/>
          </a:xfrm>
          <a:prstGeom prst="rect">
            <a:avLst/>
          </a:prstGeom>
          <a:solidFill>
            <a:srgbClr val="DFE6E9">
              <a:alpha val="85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Text 26"/>
          <p:cNvSpPr/>
          <p:nvPr/>
        </p:nvSpPr>
        <p:spPr>
          <a:xfrm>
            <a:off x="3794760" y="415137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Otimização via AG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794760" y="4407408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Hiperparâmetros refinados geneticamente — configuração ótima identificada.</a:t>
            </a:r>
            <a:endParaRPr lang="en-US" sz="9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F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40916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11480" y="914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Interpretabilidade — SHAP Values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160520" cy="1508760"/>
          </a:xfrm>
          <a:prstGeom prst="rect">
            <a:avLst/>
          </a:prstGeom>
          <a:solidFill>
            <a:srgbClr val="FFFFFF">
              <a:alpha val="9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411480" y="102412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SHAP?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11480" y="141732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>
                    <a:alpha val="9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(SHapley Additive exPlanations) é baseado em teoria dos jogos cooperativos. Quantifica a contribuição marginal de cada feature para cada predição individual — responde 'Por que o modelo previu este valor?'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617720" y="960120"/>
            <a:ext cx="4251960" cy="1508760"/>
          </a:xfrm>
          <a:prstGeom prst="rect">
            <a:avLst/>
          </a:prstGeom>
          <a:solidFill>
            <a:srgbClr val="FFFFFF">
              <a:alpha val="9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4754880" y="102412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AC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SHAP — Projeto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54880" y="1417320"/>
            <a:ext cx="25603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Mud. Uso da Terra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0" y="1417320"/>
            <a:ext cx="13716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0,077 ★★★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754880" y="1627632"/>
            <a:ext cx="25603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Ano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0" y="1627632"/>
            <a:ext cx="13716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0,049 ★★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754880" y="1837944"/>
            <a:ext cx="25603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Energia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315200" y="1837944"/>
            <a:ext cx="13716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0,018 ★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754880" y="2048256"/>
            <a:ext cx="25603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Agropecuária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315200" y="2048256"/>
            <a:ext cx="13716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0,012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754880" y="2258568"/>
            <a:ext cx="25603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Proc. Industriais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315200" y="2258568"/>
            <a:ext cx="13716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0,008</a:t>
            </a:r>
            <a:endParaRPr lang="en-US" sz="1000" dirty="0"/>
          </a:p>
        </p:txBody>
      </p:sp>
      <p:graphicFrame>
        <p:nvGraphicFramePr>
          <p:cNvPr id="19" name="Chart 0"/>
          <p:cNvGraphicFramePr/>
          <p:nvPr/>
        </p:nvGraphicFramePr>
        <p:xfrm>
          <a:off x="274320" y="2578608"/>
          <a:ext cx="859536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F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52B78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11480" y="914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Discussão dos Resultados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206240" cy="1920240"/>
          </a:xfrm>
          <a:prstGeom prst="rect">
            <a:avLst/>
          </a:prstGeom>
          <a:solidFill>
            <a:srgbClr val="FFFFFF">
              <a:alpha val="9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4206240" cy="91440"/>
          </a:xfrm>
          <a:prstGeom prst="rect">
            <a:avLst/>
          </a:prstGeom>
          <a:solidFill>
            <a:srgbClr val="52B78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566928" cy="566928"/>
          </a:xfrm>
          <a:prstGeom prst="ellipse">
            <a:avLst/>
          </a:prstGeom>
          <a:solidFill>
            <a:srgbClr val="52B78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🌳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143000" y="121615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Florestas = Principal Driver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78308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>
                    <a:alpha val="8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confirma que 'Mudança de Uso da Terra' (0,077) é o fator dominante. Picos de emissão em 1995 e 2004 correspondem a recordes de desmatamento documentados pelo INPE — correlação direta com a realidade brasileira.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09160" y="960120"/>
            <a:ext cx="4206240" cy="1920240"/>
          </a:xfrm>
          <a:prstGeom prst="rect">
            <a:avLst/>
          </a:prstGeom>
          <a:solidFill>
            <a:srgbClr val="FFFFFF">
              <a:alpha val="9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4709160" y="960120"/>
            <a:ext cx="4206240" cy="91440"/>
          </a:xfrm>
          <a:prstGeom prst="rect">
            <a:avLst/>
          </a:prstGeom>
          <a:solidFill>
            <a:srgbClr val="40916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4892040" y="1234440"/>
            <a:ext cx="566928" cy="566928"/>
          </a:xfrm>
          <a:prstGeom prst="ellipse">
            <a:avLst/>
          </a:prstGeom>
          <a:solidFill>
            <a:srgbClr val="40916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4892040" y="12344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📈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577840" y="121615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Energia = Crescimento Estrutural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92040" y="178308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>
                    <a:alpha val="8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Setor energético cresce continuamente ao longo de toda a série. Diferente do florestal, não apresenta reversões abruptas — exige estratégia de descarbonização independente do controle do desmatamento.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" y="2990088"/>
            <a:ext cx="4206240" cy="1920240"/>
          </a:xfrm>
          <a:prstGeom prst="rect">
            <a:avLst/>
          </a:prstGeom>
          <a:solidFill>
            <a:srgbClr val="FFFFFF">
              <a:alpha val="9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274320" y="2990088"/>
            <a:ext cx="4206240" cy="91440"/>
          </a:xfrm>
          <a:prstGeom prst="rect">
            <a:avLst/>
          </a:prstGeom>
          <a:solidFill>
            <a:srgbClr val="D4AC0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Shape 16"/>
          <p:cNvSpPr/>
          <p:nvPr/>
        </p:nvSpPr>
        <p:spPr>
          <a:xfrm>
            <a:off x="457200" y="3264408"/>
            <a:ext cx="566928" cy="566928"/>
          </a:xfrm>
          <a:prstGeom prst="ellipse">
            <a:avLst/>
          </a:prstGeom>
          <a:solidFill>
            <a:srgbClr val="D4AC0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457200" y="326440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🔗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143000" y="324612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Não-Linearidade Confirmada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3813048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>
                    <a:alpha val="8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(R²=0,94) vs Reg. Linear (R²=0,42): diferença de 52 p.p. confirma que o problema possui estrutura não-linear. Técnicas de ensemble são necessárias para capturar interações entre setores e tempo.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709160" y="2990088"/>
            <a:ext cx="4206240" cy="1920240"/>
          </a:xfrm>
          <a:prstGeom prst="rect">
            <a:avLst/>
          </a:prstGeom>
          <a:solidFill>
            <a:srgbClr val="FFFFFF">
              <a:alpha val="9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Shape 21"/>
          <p:cNvSpPr/>
          <p:nvPr/>
        </p:nvSpPr>
        <p:spPr>
          <a:xfrm>
            <a:off x="4709160" y="2990088"/>
            <a:ext cx="4206240" cy="91440"/>
          </a:xfrm>
          <a:prstGeom prst="rect">
            <a:avLst/>
          </a:prstGeom>
          <a:solidFill>
            <a:srgbClr val="2D6A4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Shape 22"/>
          <p:cNvSpPr/>
          <p:nvPr/>
        </p:nvSpPr>
        <p:spPr>
          <a:xfrm>
            <a:off x="4892040" y="3264408"/>
            <a:ext cx="566928" cy="566928"/>
          </a:xfrm>
          <a:prstGeom prst="ellipse">
            <a:avLst/>
          </a:prstGeom>
          <a:solidFill>
            <a:srgbClr val="2D6A4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4892040" y="326440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⚙️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5577840" y="324612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Pré-Processamento é Determinante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92040" y="3813048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>
                    <a:alpha val="8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microdados originais: R²≈0. Com agregação anual/setorial: R²&gt;0,92. A decisão de estruturar os dados foi mais impactante que a escolha do algoritmo — lição fundamental em Ciência de Dados.</a:t>
            </a:r>
            <a:endParaRPr lang="en-US" sz="10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40916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11480" y="914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Projeções Futuras — Análise de Cenários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960120"/>
            <a:ext cx="5029200" cy="2286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3282696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⬆ Random Forest + AG — Projeção estável ~1,17 Gt CO₂ (Figura 8/10)</a:t>
            </a:r>
            <a:endParaRPr lang="en-US" sz="85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3611880"/>
          <a:ext cx="5029200" cy="1280160"/>
        </p:xfrm>
        <a:graphic>
          <a:graphicData uri="http://schemas.openxmlformats.org/drawingml/2006/table">
            <a:tbl>
              <a:tblPr/>
              <a:tblGrid>
                <a:gridCol w="167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Modelo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916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2029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916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2119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916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RF + AG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1,177 Gt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40916C"/>
                          </a:solidFill>
                        </a:rPr>
                        <a:t>1,177 Gt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Gradient Boosting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6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1,315 Gt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6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1,315 Gt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6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KNN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~1,02 Gt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~1,02 Gt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Reg. Linear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↓ decaindo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CC4444"/>
                          </a:solidFill>
                        </a:rPr>
                        <a:t>NEGATIVO ❌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0" y="960120"/>
            <a:ext cx="3383280" cy="228600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486400" y="328269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⬆ Comparação modelos — 10 anos (Figura 21)</a:t>
            </a:r>
            <a:endParaRPr lang="en-US" sz="800" dirty="0"/>
          </a:p>
        </p:txBody>
      </p:sp>
      <p:sp>
        <p:nvSpPr>
          <p:cNvPr id="9" name="Shape 4"/>
          <p:cNvSpPr/>
          <p:nvPr/>
        </p:nvSpPr>
        <p:spPr>
          <a:xfrm>
            <a:off x="5486400" y="3584448"/>
            <a:ext cx="3383280" cy="1298448"/>
          </a:xfrm>
          <a:prstGeom prst="rect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5"/>
          <p:cNvSpPr/>
          <p:nvPr/>
        </p:nvSpPr>
        <p:spPr>
          <a:xfrm>
            <a:off x="5623560" y="3657600"/>
            <a:ext cx="31089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Modelos de árvore 'congelam' no último estado histórico. Para curto prazo, ARIMA e Holt-Winters oferecem dinâmica temporal mais realista.</a:t>
            </a:r>
            <a:endParaRPr lang="en-US" sz="10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1F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2D6A4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11480" y="914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Projeções de Longo Prazo — até 2119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960120"/>
            <a:ext cx="5394960" cy="2926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3913632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FFFFFF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⬆ Comparação de modelos — projeção até 2119 (Figura 23)</a:t>
            </a:r>
            <a:endParaRPr lang="en-US" sz="8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6440" y="960120"/>
            <a:ext cx="3063240" cy="199339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806440" y="2980944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FFFFFF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⬆ Mapa de Incerteza (Figura 28)</a:t>
            </a:r>
            <a:endParaRPr lang="en-US" sz="800" dirty="0"/>
          </a:p>
        </p:txBody>
      </p:sp>
      <p:sp>
        <p:nvSpPr>
          <p:cNvPr id="8" name="Shape 4"/>
          <p:cNvSpPr/>
          <p:nvPr/>
        </p:nvSpPr>
        <p:spPr>
          <a:xfrm>
            <a:off x="5806440" y="3337560"/>
            <a:ext cx="1444752" cy="594360"/>
          </a:xfrm>
          <a:prstGeom prst="rect">
            <a:avLst/>
          </a:prstGeom>
          <a:solidFill>
            <a:srgbClr val="52B78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5"/>
          <p:cNvSpPr/>
          <p:nvPr/>
        </p:nvSpPr>
        <p:spPr>
          <a:xfrm>
            <a:off x="5806440" y="3374136"/>
            <a:ext cx="1444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+ AG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5806440" y="3611880"/>
            <a:ext cx="144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Estável ~1,17 Gt</a:t>
            </a:r>
            <a:endParaRPr lang="en-US" sz="800" dirty="0"/>
          </a:p>
        </p:txBody>
      </p:sp>
      <p:sp>
        <p:nvSpPr>
          <p:cNvPr id="11" name="Shape 7"/>
          <p:cNvSpPr/>
          <p:nvPr/>
        </p:nvSpPr>
        <p:spPr>
          <a:xfrm>
            <a:off x="7379208" y="3337560"/>
            <a:ext cx="1444752" cy="594360"/>
          </a:xfrm>
          <a:prstGeom prst="rect">
            <a:avLst/>
          </a:prstGeom>
          <a:solidFill>
            <a:srgbClr val="CC444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8"/>
          <p:cNvSpPr/>
          <p:nvPr/>
        </p:nvSpPr>
        <p:spPr>
          <a:xfrm>
            <a:off x="7379208" y="3374136"/>
            <a:ext cx="1444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Prophet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7379208" y="3611880"/>
            <a:ext cx="144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Crescimento contínuo ⚠️</a:t>
            </a:r>
            <a:endParaRPr lang="en-US" sz="800" dirty="0"/>
          </a:p>
        </p:txBody>
      </p:sp>
      <p:sp>
        <p:nvSpPr>
          <p:cNvPr id="14" name="Shape 10"/>
          <p:cNvSpPr/>
          <p:nvPr/>
        </p:nvSpPr>
        <p:spPr>
          <a:xfrm>
            <a:off x="5806440" y="4023360"/>
            <a:ext cx="1444752" cy="594360"/>
          </a:xfrm>
          <a:prstGeom prst="rect">
            <a:avLst/>
          </a:prstGeom>
          <a:solidFill>
            <a:srgbClr val="D4AC0D">
              <a:alpha val="8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1"/>
          <p:cNvSpPr/>
          <p:nvPr/>
        </p:nvSpPr>
        <p:spPr>
          <a:xfrm>
            <a:off x="5806440" y="4059936"/>
            <a:ext cx="1444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ARIMA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5806440" y="4297680"/>
            <a:ext cx="144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Oscila → estabiliza</a:t>
            </a:r>
            <a:endParaRPr lang="en-US" sz="800" dirty="0"/>
          </a:p>
        </p:txBody>
      </p:sp>
      <p:sp>
        <p:nvSpPr>
          <p:cNvPr id="17" name="Shape 13"/>
          <p:cNvSpPr/>
          <p:nvPr/>
        </p:nvSpPr>
        <p:spPr>
          <a:xfrm>
            <a:off x="7379208" y="4023360"/>
            <a:ext cx="1444752" cy="594360"/>
          </a:xfrm>
          <a:prstGeom prst="rect">
            <a:avLst/>
          </a:prstGeom>
          <a:solidFill>
            <a:srgbClr val="AA3333">
              <a:alpha val="8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4"/>
          <p:cNvSpPr/>
          <p:nvPr/>
        </p:nvSpPr>
        <p:spPr>
          <a:xfrm>
            <a:off x="7379208" y="4059936"/>
            <a:ext cx="1444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Reg. Linear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7379208" y="4297680"/>
            <a:ext cx="144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Negativo ❌</a:t>
            </a:r>
            <a:endParaRPr lang="en-US" sz="800" dirty="0"/>
          </a:p>
        </p:txBody>
      </p:sp>
      <p:sp>
        <p:nvSpPr>
          <p:cNvPr id="20" name="Shape 16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40916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7"/>
          <p:cNvSpPr/>
          <p:nvPr/>
        </p:nvSpPr>
        <p:spPr>
          <a:xfrm>
            <a:off x="411480" y="4709160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Projeções de séculos são exercícios matemáticos de cenarização. A incerteza cresce substancialmente com o horizonte temporal.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8B00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11480" y="914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Limitações do Estudo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206240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4206240" cy="384048"/>
          </a:xfrm>
          <a:prstGeom prst="rect">
            <a:avLst/>
          </a:prstGeom>
          <a:solidFill>
            <a:srgbClr val="CC444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384048" y="1014984"/>
            <a:ext cx="3986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Dataset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1463040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Dados apenas até 2019 — sem impactos pós-COVID-19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1920240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Sem variáveis exógenas: PIB, desmatamento (INPE), população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2377440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Granularidade nacional — sem desagregação regional ou por bioma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09160" y="960120"/>
            <a:ext cx="4206240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4709160" y="960120"/>
            <a:ext cx="4206240" cy="384048"/>
          </a:xfrm>
          <a:prstGeom prst="rect">
            <a:avLst/>
          </a:prstGeom>
          <a:solidFill>
            <a:srgbClr val="D4AC0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4818888" y="1014984"/>
            <a:ext cx="3986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Metodologia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46320" y="1463040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Divisão treino/teste aleatória — walk-forward temporal seria ideal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46320" y="1920240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Sem validação cruzada temporal k-fold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46320" y="2377440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Agregação anual suaviza eventos abruptos intraanuais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3044952"/>
            <a:ext cx="4206240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274320" y="3044952"/>
            <a:ext cx="4206240" cy="384048"/>
          </a:xfrm>
          <a:prstGeom prst="rect">
            <a:avLst/>
          </a:prstGeom>
          <a:solidFill>
            <a:srgbClr val="2D6A4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384048" y="3099816"/>
            <a:ext cx="3986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Modelo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11480" y="3547872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Modelos de árvore não extrapolam tendências — projeções congeladas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11480" y="4005072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Sem variáveis de política pública ou acordos climáticos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11480" y="4462272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250 amostras — risco potencial de overfitting em dados limitados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09160" y="3044952"/>
            <a:ext cx="4206240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3" name="Shape 21"/>
          <p:cNvSpPr/>
          <p:nvPr/>
        </p:nvSpPr>
        <p:spPr>
          <a:xfrm>
            <a:off x="4709160" y="3044952"/>
            <a:ext cx="4206240" cy="384048"/>
          </a:xfrm>
          <a:prstGeom prst="rect">
            <a:avLst/>
          </a:prstGeom>
          <a:solidFill>
            <a:srgbClr val="40916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4818888" y="3099816"/>
            <a:ext cx="3986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Computacional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846320" y="3547872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Busca de hiperparâmetros limitada a poucas gerações do AG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46320" y="4005072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Modelos de séries temporais (SARIMA, Prophet) com baixo desempenho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46320" y="4462272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Sem paralelização avançada nos experimentos de benchmarking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F06076-A83D-8E71-56D1-8F384D8395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53E0B15-554A-CABE-EDE1-71FDFE0BC10E}"/>
              </a:ext>
            </a:extLst>
          </p:cNvPr>
          <p:cNvSpPr/>
          <p:nvPr/>
        </p:nvSpPr>
        <p:spPr>
          <a:xfrm>
            <a:off x="0" y="-27432"/>
            <a:ext cx="9144000" cy="86868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DCAADF3-F3BE-A4EA-EAE0-7616CD0BB44C}"/>
              </a:ext>
            </a:extLst>
          </p:cNvPr>
          <p:cNvSpPr/>
          <p:nvPr/>
        </p:nvSpPr>
        <p:spPr>
          <a:xfrm>
            <a:off x="411480" y="914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SHAP - </a:t>
            </a:r>
            <a:r>
              <a:rPr lang="en-US" sz="3000" b="1" dirty="0" err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Explicabilidade</a:t>
            </a:r>
            <a:endParaRPr lang="en-US" sz="30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5272FF71-A966-7A15-EC0E-A1F4AE5AE3EF}"/>
              </a:ext>
            </a:extLst>
          </p:cNvPr>
          <p:cNvSpPr/>
          <p:nvPr/>
        </p:nvSpPr>
        <p:spPr>
          <a:xfrm>
            <a:off x="4818888" y="3099816"/>
            <a:ext cx="3986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Computacional</a:t>
            </a:r>
            <a:endParaRPr lang="en-US" sz="1200"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6FE8F226-1DFC-57BE-5111-923F42A11A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564" y="1376169"/>
            <a:ext cx="7573432" cy="2772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802543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4FF6E5-DD65-A9C9-6345-97B189D901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9B3D0C6-51D4-6FF5-AF37-776CD30E5568}"/>
              </a:ext>
            </a:extLst>
          </p:cNvPr>
          <p:cNvSpPr/>
          <p:nvPr/>
        </p:nvSpPr>
        <p:spPr>
          <a:xfrm>
            <a:off x="0" y="-27432"/>
            <a:ext cx="9144000" cy="86868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4A3942D-CE89-EB04-A265-4ED2B11A16D7}"/>
              </a:ext>
            </a:extLst>
          </p:cNvPr>
          <p:cNvSpPr/>
          <p:nvPr/>
        </p:nvSpPr>
        <p:spPr>
          <a:xfrm>
            <a:off x="411480" y="914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 err="1">
                <a:solidFill>
                  <a:srgbClr val="FFFFFF"/>
                </a:solidFill>
                <a:latin typeface="Arial Black" pitchFamily="34" charset="0"/>
              </a:rPr>
              <a:t>Distribuição</a:t>
            </a: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</a:rPr>
              <a:t> de </a:t>
            </a:r>
            <a:r>
              <a:rPr lang="en-US" sz="3000" b="1" dirty="0" err="1">
                <a:solidFill>
                  <a:srgbClr val="FFFFFF"/>
                </a:solidFill>
                <a:latin typeface="Arial Black" pitchFamily="34" charset="0"/>
              </a:rPr>
              <a:t>Emissões</a:t>
            </a: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</a:rPr>
              <a:t> (N1)</a:t>
            </a:r>
            <a:endParaRPr lang="en-US" sz="30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7562FC1E-FF62-8B6E-0480-C50B44C1BA69}"/>
              </a:ext>
            </a:extLst>
          </p:cNvPr>
          <p:cNvSpPr/>
          <p:nvPr/>
        </p:nvSpPr>
        <p:spPr>
          <a:xfrm>
            <a:off x="4818888" y="3099816"/>
            <a:ext cx="3986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Computacional</a:t>
            </a:r>
            <a:endParaRPr lang="en-US" sz="1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ADF6712-C4C8-5446-27C3-C1F850DDCE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162" y="1171956"/>
            <a:ext cx="3835718" cy="311971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75CEAAE-B6E2-3019-1C62-58AB77DDC0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1773" y="1347216"/>
            <a:ext cx="4051099" cy="2944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853818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E7CFCC-5B1B-60AD-20CF-C6C39D7BA3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C300D8B-14C4-FFA2-8EEB-4145125896B1}"/>
              </a:ext>
            </a:extLst>
          </p:cNvPr>
          <p:cNvSpPr/>
          <p:nvPr/>
        </p:nvSpPr>
        <p:spPr>
          <a:xfrm>
            <a:off x="0" y="-27432"/>
            <a:ext cx="9144000" cy="86868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561D72D-5694-7A30-A17D-AEA8AFC336FA}"/>
              </a:ext>
            </a:extLst>
          </p:cNvPr>
          <p:cNvSpPr/>
          <p:nvPr/>
        </p:nvSpPr>
        <p:spPr>
          <a:xfrm>
            <a:off x="411480" y="914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SHAP - </a:t>
            </a:r>
            <a:r>
              <a:rPr lang="en-US" sz="3000" b="1" dirty="0" err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Explicabilidade</a:t>
            </a:r>
            <a:endParaRPr lang="en-US" sz="30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B29AF86A-E1B3-87BE-B735-387C180CE4CB}"/>
              </a:ext>
            </a:extLst>
          </p:cNvPr>
          <p:cNvSpPr/>
          <p:nvPr/>
        </p:nvSpPr>
        <p:spPr>
          <a:xfrm>
            <a:off x="4818888" y="3099816"/>
            <a:ext cx="3986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Computacional</a:t>
            </a:r>
            <a:endParaRPr lang="en-US" sz="12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0C09AA8-8DC2-260C-27CD-6724198067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28" y="960120"/>
            <a:ext cx="8016240" cy="3879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307831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2C8C54-EC3B-B894-C024-B75FB38CE7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7D5B0EE-6702-DE07-F621-BED50BEB7508}"/>
              </a:ext>
            </a:extLst>
          </p:cNvPr>
          <p:cNvSpPr/>
          <p:nvPr/>
        </p:nvSpPr>
        <p:spPr>
          <a:xfrm>
            <a:off x="0" y="-27432"/>
            <a:ext cx="9144000" cy="86868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99A2DBF-231E-3470-1F43-13C488629C23}"/>
              </a:ext>
            </a:extLst>
          </p:cNvPr>
          <p:cNvSpPr/>
          <p:nvPr/>
        </p:nvSpPr>
        <p:spPr>
          <a:xfrm>
            <a:off x="411480" y="914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 err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Quantidade</a:t>
            </a: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de CO2/Ind.</a:t>
            </a:r>
            <a:endParaRPr lang="en-US" sz="30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208B3D0E-B2B0-EF11-EFD0-BDF8B6387F7B}"/>
              </a:ext>
            </a:extLst>
          </p:cNvPr>
          <p:cNvSpPr/>
          <p:nvPr/>
        </p:nvSpPr>
        <p:spPr>
          <a:xfrm>
            <a:off x="4818888" y="3099816"/>
            <a:ext cx="3986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Computacional</a:t>
            </a:r>
            <a:endParaRPr lang="en-US" sz="1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719FC5-621E-4322-5724-A5150186A4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755" y="1051560"/>
            <a:ext cx="5109905" cy="368037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345EC80-2B8E-7268-CB86-3D621F412B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6041" y="1171956"/>
            <a:ext cx="2956578" cy="225704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4DC0F4A-08D2-A151-ADA4-9D034675E24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8538" y="3516630"/>
            <a:ext cx="2371102" cy="1470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887741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415130-12DA-A922-7FFD-6E44E6A370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C3CB12B-1911-8095-CB33-BE7BB3336310}"/>
              </a:ext>
            </a:extLst>
          </p:cNvPr>
          <p:cNvSpPr/>
          <p:nvPr/>
        </p:nvSpPr>
        <p:spPr>
          <a:xfrm>
            <a:off x="0" y="-27432"/>
            <a:ext cx="9144000" cy="86868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61ED91B-CE81-8832-FFA0-94D6CC8EF56E}"/>
              </a:ext>
            </a:extLst>
          </p:cNvPr>
          <p:cNvSpPr/>
          <p:nvPr/>
        </p:nvSpPr>
        <p:spPr>
          <a:xfrm>
            <a:off x="411480" y="914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000" b="1" dirty="0" err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Quantidade</a:t>
            </a: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de CO2/Ind.</a:t>
            </a:r>
            <a:endParaRPr lang="en-US" sz="30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61C9DC9B-C0A7-F693-E6C8-745A18BA5157}"/>
              </a:ext>
            </a:extLst>
          </p:cNvPr>
          <p:cNvSpPr/>
          <p:nvPr/>
        </p:nvSpPr>
        <p:spPr>
          <a:xfrm>
            <a:off x="4818888" y="3099816"/>
            <a:ext cx="3986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Computacional</a:t>
            </a:r>
            <a:endParaRPr lang="en-US" sz="1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775C6F7-D810-8218-AFD0-E9FE9A51B6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1273" y="1068861"/>
            <a:ext cx="4144399" cy="298497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1315F90-955C-82B3-2E27-7C8EA02B8B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01" y="1129552"/>
            <a:ext cx="4298723" cy="2665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951247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1F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2D6A4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11480" y="914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Recomendações Técnicas e Ambientais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206240" cy="3840480"/>
          </a:xfrm>
          <a:prstGeom prst="rect">
            <a:avLst/>
          </a:prstGeom>
          <a:solidFill>
            <a:srgbClr val="FFFFFF">
              <a:alpha val="9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4206240" cy="91440"/>
          </a:xfrm>
          <a:prstGeom prst="rect">
            <a:avLst/>
          </a:prstGeom>
          <a:solidFill>
            <a:srgbClr val="52B78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411480" y="107899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Melhorias Técnicas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572768"/>
            <a:ext cx="164592" cy="164592"/>
          </a:xfrm>
          <a:prstGeom prst="ellipse">
            <a:avLst/>
          </a:prstGeom>
          <a:solidFill>
            <a:srgbClr val="52B78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658368" y="1508760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>
                    <a:alpha val="9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Incorporar variáveis exógenas: PIB, desmatamento (INPE), crescimento energético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11480" y="2075688"/>
            <a:ext cx="164592" cy="164592"/>
          </a:xfrm>
          <a:prstGeom prst="ellipse">
            <a:avLst/>
          </a:prstGeom>
          <a:solidFill>
            <a:srgbClr val="52B78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658368" y="2011680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>
                    <a:alpha val="9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Walk-forward validation para respeitar ordem cronológica dos dados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1480" y="2578608"/>
            <a:ext cx="164592" cy="164592"/>
          </a:xfrm>
          <a:prstGeom prst="ellipse">
            <a:avLst/>
          </a:prstGeom>
          <a:solidFill>
            <a:srgbClr val="52B78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658368" y="2514600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>
                    <a:alpha val="9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Testar LSTM, Transformer e modelos híbridos ML + séries temporais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11480" y="3081528"/>
            <a:ext cx="164592" cy="164592"/>
          </a:xfrm>
          <a:prstGeom prst="ellipse">
            <a:avLst/>
          </a:prstGeom>
          <a:solidFill>
            <a:srgbClr val="52B78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658368" y="3017520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>
                    <a:alpha val="9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Granularidade regional: estados, biomas e tipos de uso da terra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11480" y="3584448"/>
            <a:ext cx="164592" cy="164592"/>
          </a:xfrm>
          <a:prstGeom prst="ellipse">
            <a:avLst/>
          </a:prstGeom>
          <a:solidFill>
            <a:srgbClr val="52B78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658368" y="3520440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>
                    <a:alpha val="9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Ampliar gerações e espaço de busca do Algoritmo Genético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11480" y="4087368"/>
            <a:ext cx="164592" cy="164592"/>
          </a:xfrm>
          <a:prstGeom prst="ellipse">
            <a:avLst/>
          </a:prstGeom>
          <a:solidFill>
            <a:srgbClr val="52B78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658368" y="4023360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>
                    <a:alpha val="9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Integrar dados pós-2019 (impacto do COVID-19 nas emissões)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63440" y="960120"/>
            <a:ext cx="4206240" cy="3840480"/>
          </a:xfrm>
          <a:prstGeom prst="rect">
            <a:avLst/>
          </a:prstGeom>
          <a:solidFill>
            <a:srgbClr val="FFFFFF">
              <a:alpha val="9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Shape 18"/>
          <p:cNvSpPr/>
          <p:nvPr/>
        </p:nvSpPr>
        <p:spPr>
          <a:xfrm>
            <a:off x="4663440" y="960120"/>
            <a:ext cx="4206240" cy="91440"/>
          </a:xfrm>
          <a:prstGeom prst="rect">
            <a:avLst/>
          </a:prstGeom>
          <a:solidFill>
            <a:srgbClr val="D4AC0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4800600" y="107899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AC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 Políticas Ambientais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800600" y="1572768"/>
            <a:ext cx="164592" cy="164592"/>
          </a:xfrm>
          <a:prstGeom prst="ellipse">
            <a:avLst/>
          </a:prstGeom>
          <a:solidFill>
            <a:srgbClr val="D4AC0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5047488" y="1508760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>
                    <a:alpha val="9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rigoroso do desmatamento via PRODES/DETER (INPE)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00600" y="2075688"/>
            <a:ext cx="164592" cy="164592"/>
          </a:xfrm>
          <a:prstGeom prst="ellipse">
            <a:avLst/>
          </a:prstGeom>
          <a:solidFill>
            <a:srgbClr val="D4AC0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5047488" y="2011680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>
                    <a:alpha val="9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Restauração florestal — Fundo Amazônia e mecanismos REDD+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00600" y="2578608"/>
            <a:ext cx="164592" cy="164592"/>
          </a:xfrm>
          <a:prstGeom prst="ellipse">
            <a:avLst/>
          </a:prstGeom>
          <a:solidFill>
            <a:srgbClr val="D4AC0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/>
          <p:nvPr/>
        </p:nvSpPr>
        <p:spPr>
          <a:xfrm>
            <a:off x="5047488" y="2514600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>
                    <a:alpha val="9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Pagamento por Serviços Ambientais (PSA) para comunidades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800600" y="3081528"/>
            <a:ext cx="164592" cy="164592"/>
          </a:xfrm>
          <a:prstGeom prst="ellipse">
            <a:avLst/>
          </a:prstGeom>
          <a:solidFill>
            <a:srgbClr val="D4AC0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/>
          <p:nvPr/>
        </p:nvSpPr>
        <p:spPr>
          <a:xfrm>
            <a:off x="5047488" y="3017520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>
                    <a:alpha val="9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Expansão de renováveis: solar, eólica e biomassa sustentável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00600" y="3584448"/>
            <a:ext cx="164592" cy="164592"/>
          </a:xfrm>
          <a:prstGeom prst="ellipse">
            <a:avLst/>
          </a:prstGeom>
          <a:solidFill>
            <a:srgbClr val="D4AC0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Text 29"/>
          <p:cNvSpPr/>
          <p:nvPr/>
        </p:nvSpPr>
        <p:spPr>
          <a:xfrm>
            <a:off x="5047488" y="3520440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>
                    <a:alpha val="9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Eletrificação progressiva do transporte público e logística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800600" y="4087368"/>
            <a:ext cx="164592" cy="164592"/>
          </a:xfrm>
          <a:prstGeom prst="ellipse">
            <a:avLst/>
          </a:prstGeom>
          <a:solidFill>
            <a:srgbClr val="D4AC0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3" name="Text 31"/>
          <p:cNvSpPr/>
          <p:nvPr/>
        </p:nvSpPr>
        <p:spPr>
          <a:xfrm>
            <a:off x="5047488" y="4023360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>
                    <a:alpha val="9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 Lavoura-Pecuária-Floresta (ILPF) na política agrícola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A3A2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11480" y="914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Conclusão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617720" cy="126187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91440" cy="1261872"/>
          </a:xfrm>
          <a:prstGeom prst="rect">
            <a:avLst/>
          </a:prstGeom>
          <a:solidFill>
            <a:srgbClr val="52B78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457200" y="1033272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EDA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399032"/>
            <a:ext cx="4343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Setor florestal domina — picos 1995/2004 = desmatamento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57200" y="1673352"/>
            <a:ext cx="4343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Energia: crescimento contínuo e estrutural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57200" y="1947672"/>
            <a:ext cx="4343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Comportamento altamente não-linear ao longo de 50 anos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4320" y="2313432"/>
            <a:ext cx="4617720" cy="126187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274320" y="2313432"/>
            <a:ext cx="91440" cy="1261872"/>
          </a:xfrm>
          <a:prstGeom prst="rect">
            <a:avLst/>
          </a:prstGeom>
          <a:solidFill>
            <a:srgbClr val="40916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457200" y="2386584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Modelos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2752344"/>
            <a:ext cx="4343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RF + AG: R²=0,9439 — melhor modelo entre 10 avaliados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57200" y="3026664"/>
            <a:ext cx="4343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Pré-processamento elevou R² de ~0 para 0,94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57200" y="3300984"/>
            <a:ext cx="4343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Modelos não-lineares superiores ao linear em 52 p.p.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4320" y="3666744"/>
            <a:ext cx="4617720" cy="126187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274320" y="3666744"/>
            <a:ext cx="91440" cy="1261872"/>
          </a:xfrm>
          <a:prstGeom prst="rect">
            <a:avLst/>
          </a:prstGeom>
          <a:solidFill>
            <a:srgbClr val="D4AC0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457200" y="3739896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🧬 AG + SHAP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4105656"/>
            <a:ext cx="4343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AG otimizou hiperparâmetros de forma inteligente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57200" y="4379976"/>
            <a:ext cx="4343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SHAP: Florestas (0,077) &gt; Ano (0,049) &gt; Energia (0,018)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57200" y="4654296"/>
            <a:ext cx="4343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Interpretabilidade viabiliza uso como ferramenta de política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074920" y="960120"/>
            <a:ext cx="3749040" cy="1645920"/>
          </a:xfrm>
          <a:prstGeom prst="rect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5212080" y="102412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AC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🔭 Trabalhos Futuros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212080" y="1444752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>
                    <a:alpha val="9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Variáveis exógenas (PIB, desmatamento, clima)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212080" y="1709928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>
                    <a:alpha val="9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Walk-forward validation temporal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212080" y="1975104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>
                    <a:alpha val="9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LSTM e modelos híbridos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212080" y="2240280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>
                    <a:alpha val="9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Granularidade regional e sub-setorial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074920" y="2724912"/>
            <a:ext cx="3749040" cy="2084832"/>
          </a:xfrm>
          <a:prstGeom prst="rect">
            <a:avLst/>
          </a:prstGeom>
          <a:solidFill>
            <a:srgbClr val="40916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/>
          <p:nvPr/>
        </p:nvSpPr>
        <p:spPr>
          <a:xfrm>
            <a:off x="5212080" y="278892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Contribuições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212080" y="3200400"/>
            <a:ext cx="34747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>
                    <a:alpha val="9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Demonstra potencial do ML na análise climática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212080" y="3493008"/>
            <a:ext cx="34747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>
                    <a:alpha val="9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Identifica setores prioritários para mitigação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212080" y="3785616"/>
            <a:ext cx="34747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>
                    <a:alpha val="9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SHAP como ponte entre dados e política pública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212080" y="4078224"/>
            <a:ext cx="34747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>
                    <a:alpha val="9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Framework replicável para outros gases e países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212080" y="4370832"/>
            <a:ext cx="34747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>
                    <a:alpha val="9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Evidencia importância crítica do pré-processamento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52B78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6" name="Text 34"/>
          <p:cNvSpPr/>
          <p:nvPr/>
        </p:nvSpPr>
        <p:spPr>
          <a:xfrm>
            <a:off x="411480" y="4709160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inteligência de dados pode ser uma ferramenta estratégica para orientar decisões climáticas, desde que utilizada com rigor técnico, senso crítico e validação contínua."</a:t>
            </a:r>
            <a:endParaRPr lang="en-US" sz="10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D1F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5486400" cy="5486400"/>
          </a:xfrm>
          <a:prstGeom prst="ellipse">
            <a:avLst/>
          </a:prstGeom>
          <a:solidFill>
            <a:srgbClr val="2D6A4F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5943600" y="1828800"/>
            <a:ext cx="4572000" cy="4572000"/>
          </a:xfrm>
          <a:prstGeom prst="ellipse">
            <a:avLst/>
          </a:prstGeom>
          <a:solidFill>
            <a:srgbClr val="52B788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8229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0" b="1" dirty="0">
                <a:solidFill>
                  <a:srgbClr val="FFFFFF">
                    <a:alpha val="8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?</a:t>
            </a:r>
            <a:endParaRPr lang="en-US" sz="180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Perguntas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457200" y="315468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Gabriel Muchon Pavanelli  |  Guilherme Pinheiro dos Santos  |  Richard Bernardino Mendes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35478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Faculdade Impacta — Inteligência Computacional — 2026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4133088"/>
            <a:ext cx="1920240" cy="77724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640080" y="417880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2B7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R² 0,9439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40080" y="457200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+ AG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743200" y="4133088"/>
            <a:ext cx="1920240" cy="77724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2743200" y="417880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2B7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1,31 Gt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743200" y="457200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CO₂ em 2019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846320" y="4133088"/>
            <a:ext cx="1920240" cy="77724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4846320" y="417880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2B7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846320" y="457200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Testados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949440" y="4133088"/>
            <a:ext cx="1920240" cy="77724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6949440" y="417880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2B7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SHAP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949440" y="457200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Interpretabilidade</a:t>
            </a:r>
            <a:endParaRPr lang="en-US" sz="9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</TotalTime>
  <Words>2502</Words>
  <Application>Microsoft Office PowerPoint</Application>
  <PresentationFormat>On-screen Show (16:9)</PresentationFormat>
  <Paragraphs>468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4" baseType="lpstr">
      <vt:lpstr>Arial</vt:lpstr>
      <vt:lpstr>Arial Black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Análise e Projeção de Emissões de CO₂ no Brasil v2</dc:title>
  <dc:subject>PptxGenJS Presentation</dc:subject>
  <dc:creator>PptxGenJS</dc:creator>
  <cp:lastModifiedBy>Gabriel Muchon Pavanelli</cp:lastModifiedBy>
  <cp:revision>11</cp:revision>
  <dcterms:created xsi:type="dcterms:W3CDTF">2026-06-08T01:03:03Z</dcterms:created>
  <dcterms:modified xsi:type="dcterms:W3CDTF">2026-06-08T04:19:19Z</dcterms:modified>
</cp:coreProperties>
</file>